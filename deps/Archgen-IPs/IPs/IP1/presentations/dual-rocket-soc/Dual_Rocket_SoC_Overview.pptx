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explains an existing Chipyard-generated dual-Rocket design and the recorded verification work. It is not a silicon product announcement. Created on 2026-09-08 from the September 6 evidence; no EDA or functional simulation was rerun to prepare these slides. All diagrams are logical illustrations, not physical layouts.</a:t>
            </a:r>
          </a:p>
          <a:p/>
          <a:p>
            <a:r>
              <a:t>Evidence references (relative to project root unless URL):</a:t>
            </a:r>
          </a:p>
          <a:p>
            <a:r>
              <a:t>docs/dual-rocket/CONFIGURATION.md</a:t>
            </a:r>
          </a:p>
          <a:p>
            <a:r>
              <a:t>docs/dual-rocket/SOC.md</a:t>
            </a:r>
          </a:p>
          <a:p>
            <a:r>
              <a:t>docs/dual-rocket/reports/simulation/README.md</a:t>
            </a:r>
          </a:p>
          <a:p>
            <a:r>
              <a:t>docs/dual-rocket/reports/synthesis/README.md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Rocket hart executes software instructions. The shared coherent hierarchy permits coordinated access to memory, while UART, interrupts and debug provide system services. The demonstrated use is bare-metal RTL simulation. Sv39 and privilege modes are present, but Linux boot was not tested. Application examples are categories of use, not benchmark performance claims.</a:t>
            </a:r>
          </a:p>
          <a:p/>
          <a:p>
            <a:r>
              <a:t>Evidence references (relative to project root unless URL):</a:t>
            </a:r>
          </a:p>
          <a:p>
            <a:r>
              <a:t>docs/dual-rocket/SOC.md</a:t>
            </a:r>
          </a:p>
          <a:p>
            <a:r>
              <a:t>docs/dual-rocket/reports/simulation/README.md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DualRocketConfig already existed upstream. Generation used a prepared, pinned checkout and cached generator JARs. A simulation campaign completed before the documentation-driven lint and synthesis reruns. Configuration and SoC documentation were completed before those fresh reruns. Report packaging preserves failed attempts, diagnostics and provenance. The final generation-wrapper test used an up-to-date cache, not a new elaboration.</a:t>
            </a:r>
          </a:p>
          <a:p/>
          <a:p>
            <a:r>
              <a:t>Evidence references (relative to project root unless URL):</a:t>
            </a:r>
          </a:p>
          <a:p>
            <a:r>
              <a:t>docs/dual-rocket/CONFIGURATION.md</a:t>
            </a:r>
          </a:p>
          <a:p>
            <a:r>
              <a:t>scripts/dual-rocket/README.md</a:t>
            </a:r>
          </a:p>
          <a:p>
            <a:r>
              <a:t>docs/dual-rocket/reports/workflow/README.md</a:t>
            </a:r>
          </a:p>
          <a:p>
            <a:r>
              <a:t>docs/dual-rocket/reports/simulation/README.md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CDE configuration composition searches leftmost fragments first; it is parameter composition, not concatenated RTL. WithNHugeCores(2) creates two tile parameter entries and updates NumTiles. AbstractConfig supplies the surrounding SoC; by itself it has no tiles. Huge names an upstream parameter preset and does not measure performance. Private L1 instances are duplicated and the shared directory width changes for the second coherent client.</a:t>
            </a:r>
          </a:p>
          <a:p/>
          <a:p>
            <a:r>
              <a:t>Evidence references (relative to project root unless URL):</a:t>
            </a:r>
          </a:p>
          <a:p>
            <a:r>
              <a:t>docs/dual-rocket/CONFIGURATION.md</a:t>
            </a:r>
          </a:p>
          <a:p>
            <a:r>
              <a:t>https://github.com/ucb-bar/chipyard/blob/e602d917dcc495c58cabe906535e411707096c9c/generators/chipyard/src/main/scala/config/RocketConfigs.scala#L11-L17</a:t>
            </a:r>
          </a:p>
          <a:p>
            <a:r>
              <a:t>https://github.com/chipsalliance/rocket-chip/blob/55bcad0f59436de98ea510334121de8546b9e9d7/src/main/scala/rocket/Configs.scala#L15-L60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chipyard.Generator selects chipyard.harness.TestHarness, containing ChipTop and DigitalTop. Chisel elaborates the design and Diplomacy negotiates buses, devices and clocks. FIRRTL and annotations are lowered by CIRCT firtool. The recorded options include --repl-seq-mem, --split-verilog and --export-module-hierarchy. Logical memory interfaces are not foundry SRAM selections. The 476-file manifest includes simulation resources and is not an instantiated DUT-module count. The native simulator is a separate build target.</a:t>
            </a:r>
          </a:p>
          <a:p/>
          <a:p>
            <a:r>
              <a:t>Evidence references (relative to project root unless URL):</a:t>
            </a:r>
          </a:p>
          <a:p>
            <a:r>
              <a:t>docs/dual-rocket/CONFIGURATION.md</a:t>
            </a:r>
          </a:p>
          <a:p>
            <a:r>
              <a:t>docs/dual-rocket/artifacts/rtl.sha256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data/instruction requests enter the TileLink system bus. The shared inclusive L2 connects SBUS to MBUS. The control-side path is SBUS to CBUS to PBUS, and serial ingress uses FBUS. The services box groups functions for readability and is not an assertion that all services attach to PBUS. Scratchpad is instantiated despite DTS disabled status. External memory is beyond the ChipTop boundary; the AXI window does not imply an on-chip DRAM controller or PHY. This is a logical diagram, not a floorplan; 64-bit AXI describes data width, not address width.</a:t>
            </a:r>
          </a:p>
          <a:p/>
          <a:p>
            <a:r>
              <a:t>Evidence references (relative to project root unless URL):</a:t>
            </a:r>
          </a:p>
          <a:p>
            <a:r>
              <a:t>docs/dual-rocket/SOC.md</a:t>
            </a:r>
          </a:p>
          <a:p>
            <a:r>
              <a:t>docs/dual-rocket/artifacts/chipyard.harness.TestHarness.DualRocketConfig.l2.json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emitted DTS and pinned Rocket configuration confirm these properties. The generated ISA string includes b, but this must not be read as every bit-manipulation extension; Zba/Zbb/Zbs are explicitly selected, not Zbc. Single-instruction decode and retirement are in-order. FPU support includes F, D and Zfh. No V extension is selected. Cache capacities exclude metadata and padding. DTS CPU frequency fields are zero; no achieved CPU frequency is claimed.</a:t>
            </a:r>
          </a:p>
          <a:p/>
          <a:p>
            <a:r>
              <a:t>Evidence references (relative to project root unless URL):</a:t>
            </a:r>
          </a:p>
          <a:p>
            <a:r>
              <a:t>docs/dual-rocket/SOC.md</a:t>
            </a:r>
          </a:p>
          <a:p>
            <a:r>
              <a:t>https://github.com/chipsalliance/rocket-chip/blob/55bcad0f59436de98ea510334121de8546b9e9d7/src/main/scala/rocket/Configs.scala#L15-L60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hart has 32 KiB instruction and 32 KiB data L1 caches, giving 128 KiB total across two harts. Shared L2 is 512 KiB, eight-way, 1024 sets, 64-byte lines, one coherence bank and seven MSHRs. The 64 KiB scratchpad exists in RTL but its device-tree status is disabled; software must account for that. The external window is 256 MiB at 0x80000000 and needs an external AXI memory subsystem. There is no DDR controller/PHY or 256 MiB on-chip memory.</a:t>
            </a:r>
          </a:p>
          <a:p/>
          <a:p>
            <a:r>
              <a:t>Evidence references (relative to project root unless URL):</a:t>
            </a:r>
          </a:p>
          <a:p>
            <a:r>
              <a:t>docs/dual-rocket/SOC.md</a:t>
            </a:r>
          </a:p>
          <a:p>
            <a:r>
              <a:t>docs/dual-rocket/reports/synthesis/README.md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CLINT provides timer/software interrupts to both harts. PLIC has one device source (UART) and four M/S interrupt contexts across two physical harts. JTAG debug supports system-bus access. Boot ROM has a 64 KiB address window, not necessarily 64 KiB of program bytes. ChipTop exposes external clocks and reset; the clock generator is passthrough, not a PLL. Decoupled serial TileLink uses 32-bit phits/flits; it is not UART. The current SoC has no FFT or other RoCC accelerator.</a:t>
            </a:r>
          </a:p>
          <a:p/>
          <a:p>
            <a:r>
              <a:t>Evidence references (relative to project root unless URL):</a:t>
            </a:r>
          </a:p>
          <a:p>
            <a:r>
              <a:t>docs/dual-rocket/SOC.md</a:t>
            </a:r>
          </a:p>
          <a:p>
            <a:r>
              <a:t>docs/dual-rocket/CONFIGURATION.md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selected address map, not all 12 regions. The full map also contains boot-address, error-response, tile-gating and tile-reset windows. End addresses in the source report are inclusive. Register windows are address apertures, not RAM capacity. Scratchpad status is disabled in DTS despite being instantiated. PLIC's 64 MiB aperture is not 64 MiB of interrupt storage. Debug is at zero, not ordinary RAM.</a:t>
            </a:r>
          </a:p>
          <a:p/>
          <a:p>
            <a:r>
              <a:t>Evidence references (relative to project root unless URL):</a:t>
            </a:r>
          </a:p>
          <a:p>
            <a:r>
              <a:t>docs/dual-rocket/SOC.md</a:t>
            </a:r>
          </a:p>
          <a:p>
            <a:r>
              <a:t>docs/dual-rocket/artifacts/chipyard.harness.TestHarness.DualRocketConfig.memmap.json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conceptual, not the instruction-by-instruction sequence of the test. The explicit two-hart atomic smoke requires both harts, peer-data visibility and a total of 256 atomic increments. Two-hart hello requires two hart-identifying outputs. Corrected multicore tests aggregate both hart results before success. Most physical ISA tests park the second hart; ordinary benchmarks can use one-hart startup code. Shared coherent caches do not automatically parallelize a program and atomic checks are not exhaustive coherence verification.</a:t>
            </a:r>
          </a:p>
          <a:p/>
          <a:p>
            <a:r>
              <a:t>Evidence references (relative to project root unless URL):</a:t>
            </a:r>
          </a:p>
          <a:p>
            <a:r>
              <a:t>docs/dual-rocket/SOC.md</a:t>
            </a:r>
          </a:p>
          <a:p>
            <a:r>
              <a:t>docs/dual-rocket/reports/simulation/README.md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TestDriver and TestHarness instantiate the complete ChipTop plus test infrastructure. Simulation uses original behavioral memories and DRAMSim2. +loadmem writes the simulator memory model to load a program; it is not a hardware memory-write port. Simulated JTAG, serial host, UART output and clock sources are not ASIC hardware. Lint/synthesis select the ChipTop hierarchy. Lint uses original behavioral memories; synthesis applies validated SRAM adapters. RTL simulation does not validate the mapped netlist.</a:t>
            </a:r>
          </a:p>
          <a:p/>
          <a:p>
            <a:r>
              <a:t>Evidence references (relative to project root unless URL):</a:t>
            </a:r>
          </a:p>
          <a:p>
            <a:r>
              <a:t>docs/dual-rocket/SOC.md</a:t>
            </a:r>
          </a:p>
          <a:p>
            <a:r>
              <a:t>docs/dual-rocket/reports/simulation/README.md</a:t>
            </a:r>
          </a:p>
          <a:p>
            <a:r>
              <a:t>docs/dual-rocket/reports/lint/README.md</a:t>
            </a:r>
          </a:p>
          <a:p>
            <a:r>
              <a:t>docs/dual-rocket/reports/synthesis/README.md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completed software simulation campaign predates the fresh documentation-driven lint and synthesis runs. Lint and synthesis can run independently against the same preserved generated source snapshot. Their dates and artifacts are retained separately. Simulation asks whether specific tests execute successfully. Lint checks static diagnostics, not full behavior. Synthesis checks mapping and linkability into libraries, not physical signoff. 476 hashes refer to a full generated-source inventory, not 476 DUT instances.</a:t>
            </a:r>
          </a:p>
          <a:p/>
          <a:p>
            <a:r>
              <a:t>Evidence references (relative to project root unless URL):</a:t>
            </a:r>
          </a:p>
          <a:p>
            <a:r>
              <a:t>docs/dual-rocket/reports/simulation/README.md</a:t>
            </a:r>
          </a:p>
          <a:p>
            <a:r>
              <a:t>docs/dual-rocket/reports/lint/README.md</a:t>
            </a:r>
          </a:p>
          <a:p>
            <a:r>
              <a:t>docs/dual-rocket/reports/synthesis/README.md</a:t>
            </a:r>
          </a:p>
          <a:p>
            <a:r>
              <a:t>scripts/dual-rocket/README.md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335 configured ISA and 12 configured benchmarks passed. The configured ISA suite is a subset of the 349-program ISA inventory. The entire broadened campaign contains 422 unique programs/variants, with 391 reported PASS, 25 FAIL and six host wall timeouts. Retries are not added to the unique total. PASS results for some legacy programs carry oracle caveats explained on the next slide and in the report. Verilator simulation version is 5.022, distinct from the newer lint executable. Fast ELF loading bypassed serial program transfer.</a:t>
            </a:r>
          </a:p>
          <a:p/>
          <a:p>
            <a:r>
              <a:t>Evidence references (relative to project root unless URL):</a:t>
            </a:r>
          </a:p>
          <a:p>
            <a:r>
              <a:t>docs/dual-rocket/reports/simulation/README.md</a:t>
            </a:r>
          </a:p>
          <a:p>
            <a:r>
              <a:t>docs/dual-rocket/reports/simulation/summary.json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non-passing additional ISA probes concern unsupported Zbc/Zicboz or misaligned-data expectations. They are not failures of the configured 335-test subset. The 22 legacy non-passes have 32-by-32 matrix assumptions against a 16-by-16 dataset; some reported legacy passes also have bounds or two-hart result-aggregation defects. Three separately named corrected multicore supplements passed RTL and Spike; original results remain preserved. Matched Spike has 391 PASS/PASS and 31 non-PASS/non-PASS outcomes, not identical exit behavior or cycle-level equivalence. The six final timeouts are host wall limits, not six proven core deadlocks. PMP passed after a bounded extended retry, and a C++ hello parser issue was corrected.</a:t>
            </a:r>
          </a:p>
          <a:p/>
          <a:p>
            <a:r>
              <a:t>Evidence references (relative to project root unless URL):</a:t>
            </a:r>
          </a:p>
          <a:p>
            <a:r>
              <a:t>docs/dual-rocket/reports/simulation/README.md</a:t>
            </a:r>
          </a:p>
          <a:p>
            <a:r>
              <a:t>docs/dual-rocket/reports/simulation/reference-comparison/summary.json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wrappers started both lint tools at 2026-09-06T13:19:52Z. Verilator 5.051 reported 2484 warnings; slang 11.0.448 reported 21 arith-in-shift warnings and 21 notes. Both tool and wrapper exits are zero. All warning-category deltas are zero against the earlier DualRocketConfig baseline, not the historical one-core report. Verilator -Wno-fatal retains warnings but allows completion. No generated RTL edits or new suppressions were introduced. Four SYNCASYNCNET warnings require reset/clock review. EICG_wrapper's latch is consistent with an intentional clock-gate latch, not physical signoff. 419 source files are in slang's elaborated dependencies; the shared 476-file fingerprint is the full generated inventory.</a:t>
            </a:r>
          </a:p>
          <a:p/>
          <a:p>
            <a:r>
              <a:t>Evidence references (relative to project root unless URL):</a:t>
            </a:r>
          </a:p>
          <a:p>
            <a:r>
              <a:t>docs/dual-rocket/reports/lint/README.md</a:t>
            </a:r>
          </a:p>
          <a:p>
            <a:r>
              <a:t>docs/dual-rocket/reports/lint/evidence/summary.json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preserves original RTL and uses an independent output directory. It checks full-ChipTop reachability and SRAM metadata; validates replacement adapters against behavioral memories; reads SystemVerilog with the slang Yosys plugin; maps logic with Yosys/ABC into Nangate45 cells and SRAM into fakeram45 macros; rejects unresolved cells/memories/processes; and links the complete mapped netlist in OpenROAD with Liberty/LEF. The first attempt failed because literal quotes reached Slang filename arguments, after SRAM tests. Relative input symlinks fixed the tooling issue and the full run was repeated. OpenROAD linking was not placement, routing or static timing analysis.</a:t>
            </a:r>
          </a:p>
          <a:p/>
          <a:p>
            <a:r>
              <a:t>Evidence references (relative to project root unless URL):</a:t>
            </a:r>
          </a:p>
          <a:p>
            <a:r>
              <a:t>docs/dual-rocket/reports/synthesis/README.md</a:t>
            </a:r>
          </a:p>
          <a:p>
            <a:r>
              <a:t>scripts/dual-rocket/synthesis/README.md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distinct generated SRAM interfaces represent 16 logical full-SoC bulk-memory instances. The adapter maps them into 194 fakeram45_512x64 macros (512 words by 64 bits each). Logical capacity is 5,958,656 bits; physical macro capacity is 6,356,992 bits, including padding and mapping overhead. This is not just architectural cache data. The dual-core directory is 1024 by 144 with 18-bit mask granularity; the one-core directory was 1024 by 136 with 17-bit granularity. Wrong widths, mask lanes and a missing instance were rejected by metadata negative controls. All seven interface tests passed three seeds and 212,364 compared cycles. These are finite initialized-memory comparisons, not formal equivalence, X-state proof or full mapped-SoC simulation.</a:t>
            </a:r>
          </a:p>
          <a:p/>
          <a:p>
            <a:r>
              <a:t>Evidence references (relative to project root unless URL):</a:t>
            </a:r>
          </a:p>
          <a:p>
            <a:r>
              <a:t>docs/dual-rocket/reports/synthesis/README.md</a:t>
            </a:r>
          </a:p>
          <a:p>
            <a:r>
              <a:t>docs/dual-rocket/reports/synthesis/inventory.json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fresh run completed September 6, 2026. Yosys maps 383,569 standard cells including 55,694 flip-flops and one DLL_X1 latch, plus 194 SRAM macros for 383,763 total instances. No unresolved internal cells, Yosys memories or processes remain. OpenROAD independently links every instance. Total Liberty cell area is 4,004,732.942001 square micrometers; SRAM subtotal is 3,356,478.972 and standard-cell subtotal 648,253.970001. Divide by one million for square millimeters. These are sums of library areas without a floorplan, not die/core area, utilization or timing. The Nangate45/fakeram45 platform is exploratory and non-manufacturable.</a:t>
            </a:r>
          </a:p>
          <a:p/>
          <a:p>
            <a:r>
              <a:t>Evidence references (relative to project root unless URL):</a:t>
            </a:r>
          </a:p>
          <a:p>
            <a:r>
              <a:t>docs/dual-rocket/reports/synthesis/README.md</a:t>
            </a:r>
          </a:p>
          <a:p>
            <a:r>
              <a:t>docs/dual-rocket/reports/synthesis/mapped-statistics.json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nominal 500 MHz bus configuration and 500 kHz DTS timebase are not measured silicon clocks. CPU clock-frequency fields are zero. No timing constraints, STA closure, placement, routing, power analysis, DRC/LVS or manufacturability claim was established. Linux boot, full JTAG/OpenOCD flows, exhaustive coherence, coverage percentages, formal verification and SRAM-mapped gate-level regression remain untested. Serial TileLink's selected decoupled PHY has a retained heavy-traffic deadlock warning; the generator recommends a credited PHY when deadlock freedom is required. Prior fast memory loading does not test sustained serial safety. Lint reset warnings need dedicated review.</a:t>
            </a:r>
          </a:p>
          <a:p/>
          <a:p>
            <a:r>
              <a:t>Evidence references (relative to project root unless URL):</a:t>
            </a:r>
          </a:p>
          <a:p>
            <a:r>
              <a:t>docs/dual-rocket/SOC.md</a:t>
            </a:r>
          </a:p>
          <a:p>
            <a:r>
              <a:t>docs/dual-rocket/reports/simulation/README.md</a:t>
            </a:r>
          </a:p>
          <a:p>
            <a:r>
              <a:t>docs/dual-rocket/reports/lint/README.md</a:t>
            </a:r>
          </a:p>
          <a:p>
            <a:r>
              <a:t>docs/dual-rocket/reports/synthesis/README.md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engineering sequence, not completed integration. For an FFT accelerator, first initialize and inspect the optional FFT generator at the pinned revision and study its integration rather than assuming the class exists in the main tree. Choose a documented attachment, addressing and interrupt scheme as applicable. New core/cache configurations change memory shapes and need refreshed adapters. Preserve the current experiment, use distinct config names and output roots, regenerate metadata, add feature-specific tests, and rerun lint/synthesis. Quantitative comparisons require common tools and constraints. No FFT hardware or Linux boot is claimed in the current design.</a:t>
            </a:r>
          </a:p>
          <a:p/>
          <a:p>
            <a:r>
              <a:t>Evidence references (relative to project root unless URL):</a:t>
            </a:r>
          </a:p>
          <a:p>
            <a:r>
              <a:t>docs/dual-rocket/CONFIGURATION.md</a:t>
            </a:r>
          </a:p>
          <a:p>
            <a:r>
              <a:t>docs/dual-rocket/SOC.md</a:t>
            </a:r>
          </a:p>
          <a:p>
            <a:r>
              <a:t>scripts/dual-rocket/README.md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commands from the results repository after provisioning the pinned Chipyard checkout and the documented EDA tools. CHIPYARD_ROOT, Java/RISC-V/PATH, OSS_CAD_SUITE_ROOT and ORFS_ROOT must be set as documented. generate.sh can reuse cached upstream output and requires exact source-manifest agreement. lint and synthesis use separate output roots and must not overwrite recorded attempts. The simulation evidence exporter only packages a completed campaign; it does not launch a simulator. The historical top-level rtl directory is single-core, while the dual-core hardware is identified by the generated-src DualRocketConfig path and its preserved hashes. Reports do not vendor raw large outputs, external libraries or binaries.</a:t>
            </a:r>
          </a:p>
          <a:p/>
          <a:p>
            <a:r>
              <a:t>Evidence references (relative to project root unless URL):</a:t>
            </a:r>
          </a:p>
          <a:p>
            <a:r>
              <a:t>docs/dual-rocket/CONFIGURATION.md</a:t>
            </a:r>
          </a:p>
          <a:p>
            <a:r>
              <a:t>scripts/dual-rocket/README.md</a:t>
            </a:r>
          </a:p>
          <a:p>
            <a:r>
              <a:t>docs/dual-rocket/README.md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full source revisions and dependency hashes are in the local references. Chipyard e602d917dcc495c58cabe906535e411707096c9c; Rocket Chip 55bcad0f59436de98ea510334121de8546b9e9d7; ORFS 68cc9bc974502b4786a68e9f51a092e0fcb56e82. Verilator simulator is 5.022, lint is 5.051 devel v5.050-312-gb1c06fdb0 (mod). slang is 11.0.448+e222e7dc0. Yosys reports 0.68+195 with a dirty suffix; native executable/plugin hashes are retained. OpenROAD v2.0-17598-ga008522d8. Icarus is version 14.0 devel s20260301-403-g5ab23063f-dirty. 500 synthesis input hashes were revalidated unchanged. Generation was not a clean dependency bootstrap and the later wrapper check was cached.</a:t>
            </a:r>
          </a:p>
          <a:p/>
          <a:p>
            <a:r>
              <a:t>Evidence references (relative to project root unless URL):</a:t>
            </a:r>
          </a:p>
          <a:p>
            <a:r>
              <a:t>docs/dual-rocket/CONFIGURATION.md</a:t>
            </a:r>
          </a:p>
          <a:p>
            <a:r>
              <a:t>docs/dual-rocket/reports/simulation/README.md</a:t>
            </a:r>
          </a:p>
          <a:p>
            <a:r>
              <a:t>docs/dual-rocket/reports/lint/README.md</a:t>
            </a:r>
          </a:p>
          <a:p>
            <a:r>
              <a:t>docs/dual-rocket/reports/synthesis/tool-versions.txt</a:t>
            </a:r>
          </a:p>
          <a:p>
            <a:r>
              <a:t>docs/dual-rocket/reports/synthesis/README.md</a:t>
            </a:r>
          </a:p>
          <a:p>
            <a:r>
              <a:t>docs/dual-rocket/reports/workflow/README.md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Glossary: SoC is a system on chip. A hart is a hardware execution thread; this design has one hart per Rocket core. RTL describes digital hardware behavior. TileLink is the on-chip interconnect protocol used here; AXI4 is the external-memory interface. L1 is private to a tile; L2 is shared. CLINT supplies timer/software interrupts; PLIC routes device interrupts. Lint, simulation, synthesis and physical signoff are distinct. The companion slide manifest and speaker-notes Markdown contain all references and SHA-256 fingerprints of the cited local source files. Read the detailed reports for exact test identities, warnings, provenance and limitations. This deck is a derivative explanation and does not replace the raw evidence.</a:t>
            </a:r>
          </a:p>
          <a:p/>
          <a:p>
            <a:r>
              <a:t>Evidence references (relative to project root unless URL):</a:t>
            </a:r>
          </a:p>
          <a:p>
            <a:r>
              <a:t>docs/dual-rocket/SOC.md</a:t>
            </a:r>
          </a:p>
          <a:p>
            <a:r>
              <a:t>docs/dual-rocket/CONFIGURATION.md</a:t>
            </a:r>
          </a:p>
          <a:p>
            <a:r>
              <a:t>docs/dual-rocket/reports/simulation/README.md</a:t>
            </a:r>
          </a:p>
          <a:p>
            <a:r>
              <a:t>docs/dual-rocket/reports/lint/README.md</a:t>
            </a:r>
          </a:p>
          <a:p>
            <a:r>
              <a:t>docs/dual-rocket/reports/synthesis/README.md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PROJECT OVERVIEW</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Dual-Rocket SoC</a:t>
            </a:r>
          </a:p>
        </p:txBody>
      </p:sp>
      <p:cxnSp>
        <p:nvCxnSpPr>
          <p:cNvPr id="5" name="Connector 4"/>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7" name="TextBox 6"/>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01</a:t>
            </a:r>
          </a:p>
        </p:txBody>
      </p:sp>
      <p:sp>
        <p:nvSpPr>
          <p:cNvPr id="8" name="TextBox 7"/>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 | SOC.md</a:t>
            </a:r>
          </a:p>
        </p:txBody>
      </p:sp>
      <p:sp>
        <p:nvSpPr>
          <p:cNvPr id="9" name="TextBox 8"/>
          <p:cNvSpPr txBox="1"/>
          <p:nvPr/>
        </p:nvSpPr>
        <p:spPr>
          <a:xfrm>
            <a:off x="566928" y="1691640"/>
            <a:ext cx="6400800" cy="1463040"/>
          </a:xfrm>
          <a:prstGeom prst="rect">
            <a:avLst/>
          </a:prstGeom>
          <a:noFill/>
        </p:spPr>
        <p:txBody>
          <a:bodyPr wrap="square" lIns="9144" rIns="9144" tIns="13716" bIns="13716" anchor="t">
            <a:spAutoFit/>
          </a:bodyPr>
          <a:lstStyle/>
          <a:p>
            <a:pPr algn="l">
              <a:lnSpc>
                <a:spcPct val="110000"/>
              </a:lnSpc>
              <a:spcBef>
                <a:spcPts val="0"/>
              </a:spcBef>
              <a:spcAft>
                <a:spcPts val="500"/>
              </a:spcAft>
              <a:defRPr sz="3250" b="1">
                <a:solidFill>
                  <a:srgbClr val="20292D"/>
                </a:solidFill>
                <a:latin typeface="DejaVu Sans"/>
              </a:defRPr>
            </a:pPr>
            <a:r>
              <a:t>Configuration, architecture</a:t>
            </a:r>
          </a:p>
          <a:p>
            <a:pPr algn="l">
              <a:lnSpc>
                <a:spcPct val="110000"/>
              </a:lnSpc>
              <a:spcBef>
                <a:spcPts val="0"/>
              </a:spcBef>
              <a:spcAft>
                <a:spcPts val="500"/>
              </a:spcAft>
              <a:defRPr sz="3250" b="1">
                <a:solidFill>
                  <a:srgbClr val="20292D"/>
                </a:solidFill>
                <a:latin typeface="DejaVu Sans"/>
              </a:defRPr>
            </a:pPr>
            <a:r>
              <a:t>and verification</a:t>
            </a:r>
          </a:p>
        </p:txBody>
      </p:sp>
      <p:sp>
        <p:nvSpPr>
          <p:cNvPr id="10" name="TextBox 9"/>
          <p:cNvSpPr txBox="1"/>
          <p:nvPr/>
        </p:nvSpPr>
        <p:spPr>
          <a:xfrm>
            <a:off x="603504" y="3319272"/>
            <a:ext cx="6217920" cy="1179576"/>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0">
                <a:solidFill>
                  <a:srgbClr val="566469"/>
                </a:solidFill>
                <a:latin typeface="DejaVu Sans"/>
              </a:defRPr>
            </a:pPr>
            <a:r>
              <a:t>Two 64-bit RISC-V cores. One shared-memory SoC.</a:t>
            </a:r>
          </a:p>
          <a:p>
            <a:pPr algn="l">
              <a:lnSpc>
                <a:spcPct val="110000"/>
              </a:lnSpc>
              <a:spcBef>
                <a:spcPts val="0"/>
              </a:spcBef>
              <a:spcAft>
                <a:spcPts val="500"/>
              </a:spcAft>
              <a:defRPr sz="1900" b="0">
                <a:solidFill>
                  <a:srgbClr val="566469"/>
                </a:solidFill>
                <a:latin typeface="DejaVu Sans"/>
              </a:defRPr>
            </a:pPr>
            <a:r>
              <a:t>Built from pinned Chipyard sources and evaluated</a:t>
            </a:r>
          </a:p>
          <a:p>
            <a:pPr algn="l">
              <a:lnSpc>
                <a:spcPct val="110000"/>
              </a:lnSpc>
              <a:spcBef>
                <a:spcPts val="0"/>
              </a:spcBef>
              <a:spcAft>
                <a:spcPts val="500"/>
              </a:spcAft>
              <a:defRPr sz="1900" b="0">
                <a:solidFill>
                  <a:srgbClr val="566469"/>
                </a:solidFill>
                <a:latin typeface="DejaVu Sans"/>
              </a:defRPr>
            </a:pPr>
            <a:r>
              <a:t>with open-source tools.</a:t>
            </a:r>
          </a:p>
        </p:txBody>
      </p:sp>
      <p:sp>
        <p:nvSpPr>
          <p:cNvPr id="11" name="Rectangle 10"/>
          <p:cNvSpPr/>
          <p:nvPr/>
        </p:nvSpPr>
        <p:spPr>
          <a:xfrm>
            <a:off x="7406640" y="1728216"/>
            <a:ext cx="1883664" cy="148132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1728216"/>
            <a:ext cx="50292" cy="148132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52944" y="1847088"/>
            <a:ext cx="1609344"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087F72"/>
                </a:solidFill>
                <a:latin typeface="DejaVu Sans"/>
              </a:defRPr>
            </a:pPr>
            <a:r>
              <a:t>HART 0</a:t>
            </a:r>
          </a:p>
        </p:txBody>
      </p:sp>
      <p:sp>
        <p:nvSpPr>
          <p:cNvPr id="14" name="TextBox 13"/>
          <p:cNvSpPr txBox="1"/>
          <p:nvPr/>
        </p:nvSpPr>
        <p:spPr>
          <a:xfrm>
            <a:off x="7552944" y="2304288"/>
            <a:ext cx="1609344" cy="832104"/>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0">
                <a:solidFill>
                  <a:srgbClr val="566469"/>
                </a:solidFill>
                <a:latin typeface="DejaVu Sans"/>
              </a:defRPr>
            </a:pPr>
            <a:r>
              <a:t>Rocket + FPU</a:t>
            </a:r>
          </a:p>
          <a:p>
            <a:pPr algn="l">
              <a:lnSpc>
                <a:spcPct val="110000"/>
              </a:lnSpc>
              <a:spcBef>
                <a:spcPts val="0"/>
              </a:spcBef>
              <a:spcAft>
                <a:spcPts val="500"/>
              </a:spcAft>
              <a:defRPr sz="1500" b="0">
                <a:solidFill>
                  <a:srgbClr val="566469"/>
                </a:solidFill>
                <a:latin typeface="DejaVu Sans"/>
              </a:defRPr>
            </a:pPr>
            <a:r>
              <a:t>Private I/D caches</a:t>
            </a:r>
          </a:p>
        </p:txBody>
      </p:sp>
      <p:sp>
        <p:nvSpPr>
          <p:cNvPr id="15" name="Rectangle 14"/>
          <p:cNvSpPr/>
          <p:nvPr/>
        </p:nvSpPr>
        <p:spPr>
          <a:xfrm>
            <a:off x="9619488" y="1728216"/>
            <a:ext cx="1883664" cy="148132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19488" y="1728216"/>
            <a:ext cx="50292" cy="148132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5792" y="1847088"/>
            <a:ext cx="1609344"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087F72"/>
                </a:solidFill>
                <a:latin typeface="DejaVu Sans"/>
              </a:defRPr>
            </a:pPr>
            <a:r>
              <a:t>HART 1</a:t>
            </a:r>
          </a:p>
        </p:txBody>
      </p:sp>
      <p:sp>
        <p:nvSpPr>
          <p:cNvPr id="18" name="TextBox 17"/>
          <p:cNvSpPr txBox="1"/>
          <p:nvPr/>
        </p:nvSpPr>
        <p:spPr>
          <a:xfrm>
            <a:off x="9765792" y="2304288"/>
            <a:ext cx="1609344" cy="832104"/>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0">
                <a:solidFill>
                  <a:srgbClr val="566469"/>
                </a:solidFill>
                <a:latin typeface="DejaVu Sans"/>
              </a:defRPr>
            </a:pPr>
            <a:r>
              <a:t>Rocket + FPU</a:t>
            </a:r>
          </a:p>
          <a:p>
            <a:pPr algn="l">
              <a:lnSpc>
                <a:spcPct val="110000"/>
              </a:lnSpc>
              <a:spcBef>
                <a:spcPts val="0"/>
              </a:spcBef>
              <a:spcAft>
                <a:spcPts val="500"/>
              </a:spcAft>
              <a:defRPr sz="1500" b="0">
                <a:solidFill>
                  <a:srgbClr val="566469"/>
                </a:solidFill>
                <a:latin typeface="DejaVu Sans"/>
              </a:defRPr>
            </a:pPr>
            <a:r>
              <a:t>Private I/D caches</a:t>
            </a:r>
          </a:p>
        </p:txBody>
      </p:sp>
      <p:cxnSp>
        <p:nvCxnSpPr>
          <p:cNvPr id="19" name="Connector 18"/>
          <p:cNvCxnSpPr/>
          <p:nvPr/>
        </p:nvCxnSpPr>
        <p:spPr>
          <a:xfrm>
            <a:off x="8357616" y="3209544"/>
            <a:ext cx="0" cy="402336"/>
          </a:xfrm>
          <a:prstGeom prst="line">
            <a:avLst/>
          </a:prstGeom>
          <a:ln w="25400">
            <a:solidFill>
              <a:srgbClr val="087F7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61320" y="3209544"/>
            <a:ext cx="0" cy="402336"/>
          </a:xfrm>
          <a:prstGeom prst="line">
            <a:avLst/>
          </a:prstGeom>
          <a:ln w="25400">
            <a:solidFill>
              <a:srgbClr val="087F7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357616" y="3611880"/>
            <a:ext cx="2203704" cy="0"/>
          </a:xfrm>
          <a:prstGeom prst="line">
            <a:avLst/>
          </a:prstGeom>
          <a:ln w="25400">
            <a:solidFill>
              <a:srgbClr val="087F7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454896" y="3611880"/>
            <a:ext cx="0" cy="301752"/>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406640" y="3931920"/>
            <a:ext cx="4096512" cy="1399032"/>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06640" y="3931920"/>
            <a:ext cx="50292" cy="1399032"/>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52944" y="4050791"/>
            <a:ext cx="382219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3279A3"/>
                </a:solidFill>
                <a:latin typeface="DejaVu Sans"/>
              </a:defRPr>
            </a:pPr>
            <a:r>
              <a:t>SHARED SYSTEM</a:t>
            </a:r>
          </a:p>
        </p:txBody>
      </p:sp>
      <p:sp>
        <p:nvSpPr>
          <p:cNvPr id="26" name="TextBox 25"/>
          <p:cNvSpPr txBox="1"/>
          <p:nvPr/>
        </p:nvSpPr>
        <p:spPr>
          <a:xfrm>
            <a:off x="7552944" y="4507992"/>
            <a:ext cx="3822192" cy="74980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512 KiB L2 + memory fabric</a:t>
            </a:r>
          </a:p>
          <a:p>
            <a:pPr algn="l">
              <a:lnSpc>
                <a:spcPct val="110000"/>
              </a:lnSpc>
              <a:spcBef>
                <a:spcPts val="0"/>
              </a:spcBef>
              <a:spcAft>
                <a:spcPts val="500"/>
              </a:spcAft>
              <a:defRPr sz="1600" b="0">
                <a:solidFill>
                  <a:srgbClr val="566469"/>
                </a:solidFill>
                <a:latin typeface="DejaVu Sans"/>
              </a:defRPr>
            </a:pPr>
            <a:r>
              <a:t>Boot, debug, interrupts, UART</a:t>
            </a:r>
          </a:p>
        </p:txBody>
      </p:sp>
      <p:sp>
        <p:nvSpPr>
          <p:cNvPr id="27" name="TextBox 26"/>
          <p:cNvSpPr txBox="1"/>
          <p:nvPr/>
        </p:nvSpPr>
        <p:spPr>
          <a:xfrm>
            <a:off x="594360" y="5376672"/>
            <a:ext cx="6400800" cy="347472"/>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Prepared for sainadh812  |  08 September 2026</a:t>
            </a:r>
          </a:p>
        </p:txBody>
      </p:sp>
      <p:sp>
        <p:nvSpPr>
          <p:cNvPr id="28" name="Rectangle 27"/>
          <p:cNvSpPr/>
          <p:nvPr/>
        </p:nvSpPr>
        <p:spPr>
          <a:xfrm>
            <a:off x="502920" y="5751576"/>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5843016"/>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Scope: generated RTL and exploratory mapping. No fabricated chip or physical signoff.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PURPOSE</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What does this SoC do?</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A SoC combines processors, memory infrastructure and system services.</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02</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reports/simulation/README.md</a:t>
            </a:r>
          </a:p>
        </p:txBody>
      </p:sp>
      <p:sp>
        <p:nvSpPr>
          <p:cNvPr id="10" name="Rectangle 9"/>
          <p:cNvSpPr/>
          <p:nvPr/>
        </p:nvSpPr>
        <p:spPr>
          <a:xfrm>
            <a:off x="594360" y="1856231"/>
            <a:ext cx="3310128" cy="157276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856231"/>
            <a:ext cx="50292" cy="157276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975103"/>
            <a:ext cx="303580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087F72"/>
                </a:solidFill>
                <a:latin typeface="DejaVu Sans"/>
              </a:defRPr>
            </a:pPr>
            <a:r>
              <a:t>COMPUTE</a:t>
            </a:r>
          </a:p>
        </p:txBody>
      </p:sp>
      <p:sp>
        <p:nvSpPr>
          <p:cNvPr id="13" name="TextBox 12"/>
          <p:cNvSpPr txBox="1"/>
          <p:nvPr/>
        </p:nvSpPr>
        <p:spPr>
          <a:xfrm>
            <a:off x="740664" y="2432303"/>
            <a:ext cx="3035808" cy="92354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Two instruction streams</a:t>
            </a:r>
          </a:p>
          <a:p>
            <a:pPr algn="l">
              <a:lnSpc>
                <a:spcPct val="110000"/>
              </a:lnSpc>
              <a:spcBef>
                <a:spcPts val="0"/>
              </a:spcBef>
              <a:spcAft>
                <a:spcPts val="500"/>
              </a:spcAft>
              <a:defRPr sz="1700" b="0">
                <a:solidFill>
                  <a:srgbClr val="566469"/>
                </a:solidFill>
                <a:latin typeface="DejaVu Sans"/>
              </a:defRPr>
            </a:pPr>
            <a:r>
              <a:t>Integer and floating-point work</a:t>
            </a:r>
          </a:p>
        </p:txBody>
      </p:sp>
      <p:sp>
        <p:nvSpPr>
          <p:cNvPr id="14" name="Rectangle 13"/>
          <p:cNvSpPr/>
          <p:nvPr/>
        </p:nvSpPr>
        <p:spPr>
          <a:xfrm>
            <a:off x="4453128" y="1856231"/>
            <a:ext cx="3310128" cy="157276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3128" y="1856231"/>
            <a:ext cx="50292" cy="1572768"/>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1975103"/>
            <a:ext cx="303580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3279A3"/>
                </a:solidFill>
                <a:latin typeface="DejaVu Sans"/>
              </a:defRPr>
            </a:pPr>
            <a:r>
              <a:t>SHARE DATA</a:t>
            </a:r>
          </a:p>
        </p:txBody>
      </p:sp>
      <p:sp>
        <p:nvSpPr>
          <p:cNvPr id="17" name="TextBox 16"/>
          <p:cNvSpPr txBox="1"/>
          <p:nvPr/>
        </p:nvSpPr>
        <p:spPr>
          <a:xfrm>
            <a:off x="4599432" y="2432303"/>
            <a:ext cx="3035808" cy="923544"/>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0">
                <a:solidFill>
                  <a:srgbClr val="566469"/>
                </a:solidFill>
                <a:latin typeface="DejaVu Sans"/>
              </a:defRPr>
            </a:pPr>
            <a:r>
              <a:t>Caches and coherent interconnect</a:t>
            </a:r>
          </a:p>
          <a:p>
            <a:pPr algn="l">
              <a:lnSpc>
                <a:spcPct val="110000"/>
              </a:lnSpc>
              <a:spcBef>
                <a:spcPts val="0"/>
              </a:spcBef>
              <a:spcAft>
                <a:spcPts val="500"/>
              </a:spcAft>
              <a:defRPr sz="1500" b="0">
                <a:solidFill>
                  <a:srgbClr val="566469"/>
                </a:solidFill>
                <a:latin typeface="DejaVu Sans"/>
              </a:defRPr>
            </a:pPr>
            <a:r>
              <a:t>Memory and atomic operations</a:t>
            </a:r>
          </a:p>
        </p:txBody>
      </p:sp>
      <p:sp>
        <p:nvSpPr>
          <p:cNvPr id="18" name="Rectangle 17"/>
          <p:cNvSpPr/>
          <p:nvPr/>
        </p:nvSpPr>
        <p:spPr>
          <a:xfrm>
            <a:off x="8311896" y="1856231"/>
            <a:ext cx="3310128" cy="157276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11896" y="1856231"/>
            <a:ext cx="50292" cy="1572768"/>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1975103"/>
            <a:ext cx="303580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CE594B"/>
                </a:solidFill>
                <a:latin typeface="DejaVu Sans"/>
              </a:defRPr>
            </a:pPr>
            <a:r>
              <a:t>CONTROL</a:t>
            </a:r>
          </a:p>
        </p:txBody>
      </p:sp>
      <p:sp>
        <p:nvSpPr>
          <p:cNvPr id="21" name="TextBox 20"/>
          <p:cNvSpPr txBox="1"/>
          <p:nvPr/>
        </p:nvSpPr>
        <p:spPr>
          <a:xfrm>
            <a:off x="8458200" y="2432303"/>
            <a:ext cx="3035808" cy="92354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Boot, interrupts, UART</a:t>
            </a:r>
          </a:p>
          <a:p>
            <a:pPr algn="l">
              <a:lnSpc>
                <a:spcPct val="110000"/>
              </a:lnSpc>
              <a:spcBef>
                <a:spcPts val="0"/>
              </a:spcBef>
              <a:spcAft>
                <a:spcPts val="500"/>
              </a:spcAft>
              <a:defRPr sz="1700" b="0">
                <a:solidFill>
                  <a:srgbClr val="566469"/>
                </a:solidFill>
                <a:latin typeface="DejaVu Sans"/>
              </a:defRPr>
            </a:pPr>
            <a:r>
              <a:t>External memory and debug</a:t>
            </a:r>
          </a:p>
        </p:txBody>
      </p:sp>
      <p:sp>
        <p:nvSpPr>
          <p:cNvPr id="22" name="TextBox 21"/>
          <p:cNvSpPr txBox="1"/>
          <p:nvPr/>
        </p:nvSpPr>
        <p:spPr>
          <a:xfrm>
            <a:off x="603504" y="3758184"/>
            <a:ext cx="5120640"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2050" b="1">
                <a:solidFill>
                  <a:srgbClr val="087F72"/>
                </a:solidFill>
                <a:latin typeface="DejaVu Sans"/>
              </a:defRPr>
            </a:pPr>
            <a:r>
              <a:t>Demonstrated in simulation</a:t>
            </a:r>
          </a:p>
        </p:txBody>
      </p:sp>
      <p:sp>
        <p:nvSpPr>
          <p:cNvPr id="23" name="Rectangle 22"/>
          <p:cNvSpPr/>
          <p:nvPr/>
        </p:nvSpPr>
        <p:spPr>
          <a:xfrm>
            <a:off x="630936" y="4434840"/>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315968"/>
            <a:ext cx="5632704"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0">
                <a:solidFill>
                  <a:srgbClr val="20292D"/>
                </a:solidFill>
                <a:latin typeface="DejaVu Sans"/>
              </a:defRPr>
            </a:pPr>
            <a:r>
              <a:t>RISC-V ISA programs and scalar benchmarks</a:t>
            </a:r>
          </a:p>
        </p:txBody>
      </p:sp>
      <p:sp>
        <p:nvSpPr>
          <p:cNvPr id="25" name="Rectangle 24"/>
          <p:cNvSpPr/>
          <p:nvPr/>
        </p:nvSpPr>
        <p:spPr>
          <a:xfrm>
            <a:off x="630936" y="5010912"/>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4892040"/>
            <a:ext cx="5632704"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Both-hart output, shared data and atomic updates</a:t>
            </a:r>
          </a:p>
        </p:txBody>
      </p:sp>
      <p:sp>
        <p:nvSpPr>
          <p:cNvPr id="27" name="TextBox 26"/>
          <p:cNvSpPr txBox="1"/>
          <p:nvPr/>
        </p:nvSpPr>
        <p:spPr>
          <a:xfrm>
            <a:off x="6638544" y="3758184"/>
            <a:ext cx="4882896"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2050" b="1">
                <a:solidFill>
                  <a:srgbClr val="566469"/>
                </a:solidFill>
                <a:latin typeface="DejaVu Sans"/>
              </a:defRPr>
            </a:pPr>
            <a:r>
              <a:t>Not yet demonstrated</a:t>
            </a:r>
          </a:p>
        </p:txBody>
      </p:sp>
      <p:sp>
        <p:nvSpPr>
          <p:cNvPr id="28" name="TextBox 27"/>
          <p:cNvSpPr txBox="1"/>
          <p:nvPr/>
        </p:nvSpPr>
        <p:spPr>
          <a:xfrm>
            <a:off x="6656832" y="4325112"/>
            <a:ext cx="4846320" cy="950976"/>
          </a:xfrm>
          <a:prstGeom prst="rect">
            <a:avLst/>
          </a:prstGeom>
          <a:noFill/>
        </p:spPr>
        <p:txBody>
          <a:bodyPr wrap="square" lIns="9144" rIns="9144" tIns="13716" bIns="13716" anchor="t">
            <a:spAutoFit/>
          </a:bodyPr>
          <a:lstStyle/>
          <a:p>
            <a:pPr algn="l">
              <a:lnSpc>
                <a:spcPct val="110000"/>
              </a:lnSpc>
              <a:spcBef>
                <a:spcPts val="0"/>
              </a:spcBef>
              <a:spcAft>
                <a:spcPts val="500"/>
              </a:spcAft>
              <a:defRPr sz="1650" b="0">
                <a:solidFill>
                  <a:srgbClr val="566469"/>
                </a:solidFill>
                <a:latin typeface="DejaVu Sans"/>
              </a:defRPr>
            </a:pPr>
            <a:r>
              <a:t>Custom firmware and multicore applications;</a:t>
            </a:r>
          </a:p>
          <a:p>
            <a:pPr algn="l">
              <a:lnSpc>
                <a:spcPct val="110000"/>
              </a:lnSpc>
              <a:spcBef>
                <a:spcPts val="0"/>
              </a:spcBef>
              <a:spcAft>
                <a:spcPts val="500"/>
              </a:spcAft>
              <a:defRPr sz="1650" b="0">
                <a:solidFill>
                  <a:srgbClr val="566469"/>
                </a:solidFill>
                <a:latin typeface="DejaVu Sans"/>
              </a:defRPr>
            </a:pPr>
            <a:r>
              <a:t>OS bring-up needs its own software and tests.</a:t>
            </a:r>
          </a:p>
        </p:txBody>
      </p:sp>
      <p:sp>
        <p:nvSpPr>
          <p:cNvPr id="29" name="Rectangle 28"/>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087F72"/>
                </a:solidFill>
                <a:latin typeface="DejaVu Sans"/>
              </a:defRPr>
            </a:pPr>
            <a:r>
              <a:t>This is a development and verification platform, not a complete board-ready computer.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PROCESS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How the project was built</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The work changed the selected configuration and tooling, not the generated CPU RTL.</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03</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 | scripts/dual-rocket/README.md</a:t>
            </a:r>
          </a:p>
        </p:txBody>
      </p:sp>
      <p:sp>
        <p:nvSpPr>
          <p:cNvPr id="10" name="TextBox 9"/>
          <p:cNvSpPr txBox="1"/>
          <p:nvPr/>
        </p:nvSpPr>
        <p:spPr>
          <a:xfrm>
            <a:off x="603504" y="1920240"/>
            <a:ext cx="1463040" cy="612648"/>
          </a:xfrm>
          <a:prstGeom prst="rect">
            <a:avLst/>
          </a:prstGeom>
          <a:noFill/>
        </p:spPr>
        <p:txBody>
          <a:bodyPr wrap="square" lIns="9144" rIns="9144" tIns="13716" bIns="13716" anchor="t">
            <a:spAutoFit/>
          </a:bodyPr>
          <a:lstStyle/>
          <a:p>
            <a:pPr algn="l">
              <a:lnSpc>
                <a:spcPct val="110000"/>
              </a:lnSpc>
              <a:spcBef>
                <a:spcPts val="0"/>
              </a:spcBef>
              <a:spcAft>
                <a:spcPts val="500"/>
              </a:spcAft>
              <a:defRPr sz="3600" b="1">
                <a:solidFill>
                  <a:srgbClr val="087F72"/>
                </a:solidFill>
                <a:latin typeface="DejaVu Sans"/>
              </a:defRPr>
            </a:pPr>
            <a:r>
              <a:t>01</a:t>
            </a:r>
          </a:p>
        </p:txBody>
      </p:sp>
      <p:sp>
        <p:nvSpPr>
          <p:cNvPr id="11" name="TextBox 10"/>
          <p:cNvSpPr txBox="1"/>
          <p:nvPr/>
        </p:nvSpPr>
        <p:spPr>
          <a:xfrm>
            <a:off x="603504" y="2724912"/>
            <a:ext cx="2011680"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PIN</a:t>
            </a:r>
          </a:p>
        </p:txBody>
      </p:sp>
      <p:sp>
        <p:nvSpPr>
          <p:cNvPr id="12" name="TextBox 11"/>
          <p:cNvSpPr txBox="1"/>
          <p:nvPr/>
        </p:nvSpPr>
        <p:spPr>
          <a:xfrm>
            <a:off x="603504" y="3300984"/>
            <a:ext cx="2002536" cy="1508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Record source revisions</a:t>
            </a:r>
          </a:p>
          <a:p>
            <a:pPr algn="l">
              <a:lnSpc>
                <a:spcPct val="110000"/>
              </a:lnSpc>
              <a:spcBef>
                <a:spcPts val="0"/>
              </a:spcBef>
              <a:spcAft>
                <a:spcPts val="500"/>
              </a:spcAft>
              <a:defRPr sz="1800" b="0">
                <a:solidFill>
                  <a:srgbClr val="566469"/>
                </a:solidFill>
                <a:latin typeface="DejaVu Sans"/>
              </a:defRPr>
            </a:pPr>
            <a:r>
              <a:t>and tool versions</a:t>
            </a:r>
          </a:p>
        </p:txBody>
      </p:sp>
      <p:cxnSp>
        <p:nvCxnSpPr>
          <p:cNvPr id="13" name="Connector 12"/>
          <p:cNvCxnSpPr/>
          <p:nvPr/>
        </p:nvCxnSpPr>
        <p:spPr>
          <a:xfrm>
            <a:off x="2121408" y="2249424"/>
            <a:ext cx="594360"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916936" y="1920240"/>
            <a:ext cx="1463040" cy="612648"/>
          </a:xfrm>
          <a:prstGeom prst="rect">
            <a:avLst/>
          </a:prstGeom>
          <a:noFill/>
        </p:spPr>
        <p:txBody>
          <a:bodyPr wrap="square" lIns="9144" rIns="9144" tIns="13716" bIns="13716" anchor="t">
            <a:spAutoFit/>
          </a:bodyPr>
          <a:lstStyle/>
          <a:p>
            <a:pPr algn="l">
              <a:lnSpc>
                <a:spcPct val="110000"/>
              </a:lnSpc>
              <a:spcBef>
                <a:spcPts val="0"/>
              </a:spcBef>
              <a:spcAft>
                <a:spcPts val="500"/>
              </a:spcAft>
              <a:defRPr sz="3600" b="1">
                <a:solidFill>
                  <a:srgbClr val="087F72"/>
                </a:solidFill>
                <a:latin typeface="DejaVu Sans"/>
              </a:defRPr>
            </a:pPr>
            <a:r>
              <a:t>02</a:t>
            </a:r>
          </a:p>
        </p:txBody>
      </p:sp>
      <p:sp>
        <p:nvSpPr>
          <p:cNvPr id="15" name="TextBox 14"/>
          <p:cNvSpPr txBox="1"/>
          <p:nvPr/>
        </p:nvSpPr>
        <p:spPr>
          <a:xfrm>
            <a:off x="2916936" y="2724912"/>
            <a:ext cx="2011680"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SELECT</a:t>
            </a:r>
          </a:p>
        </p:txBody>
      </p:sp>
      <p:sp>
        <p:nvSpPr>
          <p:cNvPr id="16" name="TextBox 15"/>
          <p:cNvSpPr txBox="1"/>
          <p:nvPr/>
        </p:nvSpPr>
        <p:spPr>
          <a:xfrm>
            <a:off x="2916936" y="3300984"/>
            <a:ext cx="2002536" cy="1508760"/>
          </a:xfrm>
          <a:prstGeom prst="rect">
            <a:avLst/>
          </a:prstGeom>
          <a:noFill/>
        </p:spPr>
        <p:txBody>
          <a:bodyPr wrap="square" lIns="9144" rIns="9144" tIns="13716" bIns="13716" anchor="t">
            <a:spAutoFit/>
          </a:bodyPr>
          <a:lstStyle/>
          <a:p>
            <a:pPr algn="l">
              <a:lnSpc>
                <a:spcPct val="110000"/>
              </a:lnSpc>
              <a:spcBef>
                <a:spcPts val="0"/>
              </a:spcBef>
              <a:spcAft>
                <a:spcPts val="500"/>
              </a:spcAft>
              <a:defRPr sz="1750" b="0">
                <a:solidFill>
                  <a:srgbClr val="566469"/>
                </a:solidFill>
                <a:latin typeface="DejaVu Sans"/>
              </a:defRPr>
            </a:pPr>
            <a:r>
              <a:t>Choose the existing</a:t>
            </a:r>
          </a:p>
          <a:p>
            <a:pPr algn="l">
              <a:lnSpc>
                <a:spcPct val="110000"/>
              </a:lnSpc>
              <a:spcBef>
                <a:spcPts val="0"/>
              </a:spcBef>
              <a:spcAft>
                <a:spcPts val="500"/>
              </a:spcAft>
              <a:defRPr sz="1750" b="0">
                <a:solidFill>
                  <a:srgbClr val="566469"/>
                </a:solidFill>
                <a:latin typeface="DejaVu Sans"/>
              </a:defRPr>
            </a:pPr>
            <a:r>
              <a:t>DualRocketConfig</a:t>
            </a:r>
          </a:p>
        </p:txBody>
      </p:sp>
      <p:cxnSp>
        <p:nvCxnSpPr>
          <p:cNvPr id="17" name="Connector 16"/>
          <p:cNvCxnSpPr/>
          <p:nvPr/>
        </p:nvCxnSpPr>
        <p:spPr>
          <a:xfrm>
            <a:off x="4434840" y="2249424"/>
            <a:ext cx="594360"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30368" y="1920240"/>
            <a:ext cx="1463040" cy="612648"/>
          </a:xfrm>
          <a:prstGeom prst="rect">
            <a:avLst/>
          </a:prstGeom>
          <a:noFill/>
        </p:spPr>
        <p:txBody>
          <a:bodyPr wrap="square" lIns="9144" rIns="9144" tIns="13716" bIns="13716" anchor="t">
            <a:spAutoFit/>
          </a:bodyPr>
          <a:lstStyle/>
          <a:p>
            <a:pPr algn="l">
              <a:lnSpc>
                <a:spcPct val="110000"/>
              </a:lnSpc>
              <a:spcBef>
                <a:spcPts val="0"/>
              </a:spcBef>
              <a:spcAft>
                <a:spcPts val="500"/>
              </a:spcAft>
              <a:defRPr sz="3600" b="1">
                <a:solidFill>
                  <a:srgbClr val="087F72"/>
                </a:solidFill>
                <a:latin typeface="DejaVu Sans"/>
              </a:defRPr>
            </a:pPr>
            <a:r>
              <a:t>03</a:t>
            </a:r>
          </a:p>
        </p:txBody>
      </p:sp>
      <p:sp>
        <p:nvSpPr>
          <p:cNvPr id="19" name="TextBox 18"/>
          <p:cNvSpPr txBox="1"/>
          <p:nvPr/>
        </p:nvSpPr>
        <p:spPr>
          <a:xfrm>
            <a:off x="5230368" y="2724912"/>
            <a:ext cx="2011680"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GENERATE</a:t>
            </a:r>
          </a:p>
        </p:txBody>
      </p:sp>
      <p:sp>
        <p:nvSpPr>
          <p:cNvPr id="20" name="TextBox 19"/>
          <p:cNvSpPr txBox="1"/>
          <p:nvPr/>
        </p:nvSpPr>
        <p:spPr>
          <a:xfrm>
            <a:off x="5230368" y="3300984"/>
            <a:ext cx="2002536" cy="1508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Elaborate the full SoC</a:t>
            </a:r>
          </a:p>
          <a:p>
            <a:pPr algn="l">
              <a:lnSpc>
                <a:spcPct val="110000"/>
              </a:lnSpc>
              <a:spcBef>
                <a:spcPts val="0"/>
              </a:spcBef>
              <a:spcAft>
                <a:spcPts val="500"/>
              </a:spcAft>
              <a:defRPr sz="1800" b="0">
                <a:solidFill>
                  <a:srgbClr val="566469"/>
                </a:solidFill>
                <a:latin typeface="DejaVu Sans"/>
              </a:defRPr>
            </a:pPr>
            <a:r>
              <a:t>and emit RTL + metadata</a:t>
            </a:r>
          </a:p>
        </p:txBody>
      </p:sp>
      <p:cxnSp>
        <p:nvCxnSpPr>
          <p:cNvPr id="21" name="Connector 20"/>
          <p:cNvCxnSpPr/>
          <p:nvPr/>
        </p:nvCxnSpPr>
        <p:spPr>
          <a:xfrm>
            <a:off x="6748272" y="2249424"/>
            <a:ext cx="594359"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43800" y="1920240"/>
            <a:ext cx="1463040" cy="612648"/>
          </a:xfrm>
          <a:prstGeom prst="rect">
            <a:avLst/>
          </a:prstGeom>
          <a:noFill/>
        </p:spPr>
        <p:txBody>
          <a:bodyPr wrap="square" lIns="9144" rIns="9144" tIns="13716" bIns="13716" anchor="t">
            <a:spAutoFit/>
          </a:bodyPr>
          <a:lstStyle/>
          <a:p>
            <a:pPr algn="l">
              <a:lnSpc>
                <a:spcPct val="110000"/>
              </a:lnSpc>
              <a:spcBef>
                <a:spcPts val="0"/>
              </a:spcBef>
              <a:spcAft>
                <a:spcPts val="500"/>
              </a:spcAft>
              <a:defRPr sz="3600" b="1">
                <a:solidFill>
                  <a:srgbClr val="087F72"/>
                </a:solidFill>
                <a:latin typeface="DejaVu Sans"/>
              </a:defRPr>
            </a:pPr>
            <a:r>
              <a:t>04</a:t>
            </a:r>
          </a:p>
        </p:txBody>
      </p:sp>
      <p:sp>
        <p:nvSpPr>
          <p:cNvPr id="23" name="TextBox 22"/>
          <p:cNvSpPr txBox="1"/>
          <p:nvPr/>
        </p:nvSpPr>
        <p:spPr>
          <a:xfrm>
            <a:off x="7543800" y="2724912"/>
            <a:ext cx="2011680"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VERIFY</a:t>
            </a:r>
          </a:p>
        </p:txBody>
      </p:sp>
      <p:sp>
        <p:nvSpPr>
          <p:cNvPr id="24" name="TextBox 23"/>
          <p:cNvSpPr txBox="1"/>
          <p:nvPr/>
        </p:nvSpPr>
        <p:spPr>
          <a:xfrm>
            <a:off x="7543800" y="3300984"/>
            <a:ext cx="2002536" cy="1508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Run RTL simulation,</a:t>
            </a:r>
          </a:p>
          <a:p>
            <a:pPr algn="l">
              <a:lnSpc>
                <a:spcPct val="110000"/>
              </a:lnSpc>
              <a:spcBef>
                <a:spcPts val="0"/>
              </a:spcBef>
              <a:spcAft>
                <a:spcPts val="500"/>
              </a:spcAft>
              <a:defRPr sz="1800" b="0">
                <a:solidFill>
                  <a:srgbClr val="566469"/>
                </a:solidFill>
                <a:latin typeface="DejaVu Sans"/>
              </a:defRPr>
            </a:pPr>
            <a:r>
              <a:t>lint and synthesis</a:t>
            </a:r>
          </a:p>
        </p:txBody>
      </p:sp>
      <p:cxnSp>
        <p:nvCxnSpPr>
          <p:cNvPr id="25" name="Connector 24"/>
          <p:cNvCxnSpPr/>
          <p:nvPr/>
        </p:nvCxnSpPr>
        <p:spPr>
          <a:xfrm>
            <a:off x="9061704" y="2249424"/>
            <a:ext cx="594360"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857232" y="1920240"/>
            <a:ext cx="1463040" cy="612648"/>
          </a:xfrm>
          <a:prstGeom prst="rect">
            <a:avLst/>
          </a:prstGeom>
          <a:noFill/>
        </p:spPr>
        <p:txBody>
          <a:bodyPr wrap="square" lIns="9144" rIns="9144" tIns="13716" bIns="13716" anchor="t">
            <a:spAutoFit/>
          </a:bodyPr>
          <a:lstStyle/>
          <a:p>
            <a:pPr algn="l">
              <a:lnSpc>
                <a:spcPct val="110000"/>
              </a:lnSpc>
              <a:spcBef>
                <a:spcPts val="0"/>
              </a:spcBef>
              <a:spcAft>
                <a:spcPts val="500"/>
              </a:spcAft>
              <a:defRPr sz="3600" b="1">
                <a:solidFill>
                  <a:srgbClr val="087F72"/>
                </a:solidFill>
                <a:latin typeface="DejaVu Sans"/>
              </a:defRPr>
            </a:pPr>
            <a:r>
              <a:t>05</a:t>
            </a:r>
          </a:p>
        </p:txBody>
      </p:sp>
      <p:sp>
        <p:nvSpPr>
          <p:cNvPr id="27" name="TextBox 26"/>
          <p:cNvSpPr txBox="1"/>
          <p:nvPr/>
        </p:nvSpPr>
        <p:spPr>
          <a:xfrm>
            <a:off x="9857232" y="2724912"/>
            <a:ext cx="2011680"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REPORT</a:t>
            </a:r>
          </a:p>
        </p:txBody>
      </p:sp>
      <p:sp>
        <p:nvSpPr>
          <p:cNvPr id="28" name="TextBox 27"/>
          <p:cNvSpPr txBox="1"/>
          <p:nvPr/>
        </p:nvSpPr>
        <p:spPr>
          <a:xfrm>
            <a:off x="9857232" y="3300984"/>
            <a:ext cx="2002536" cy="150876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Preserve outcomes,</a:t>
            </a:r>
          </a:p>
          <a:p>
            <a:pPr algn="l">
              <a:lnSpc>
                <a:spcPct val="110000"/>
              </a:lnSpc>
              <a:spcBef>
                <a:spcPts val="0"/>
              </a:spcBef>
              <a:spcAft>
                <a:spcPts val="500"/>
              </a:spcAft>
              <a:defRPr sz="1800" b="0">
                <a:solidFill>
                  <a:srgbClr val="566469"/>
                </a:solidFill>
                <a:latin typeface="DejaVu Sans"/>
              </a:defRPr>
            </a:pPr>
            <a:r>
              <a:t>limits and input hashes</a:t>
            </a:r>
          </a:p>
        </p:txBody>
      </p:sp>
      <p:sp>
        <p:nvSpPr>
          <p:cNvPr id="29" name="TextBox 28"/>
          <p:cNvSpPr txBox="1"/>
          <p:nvPr/>
        </p:nvSpPr>
        <p:spPr>
          <a:xfrm>
            <a:off x="640080" y="5166360"/>
            <a:ext cx="10881360"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Configuration and SoC documented before fresh lint/synthesis; simulation predates those reruns.</a:t>
            </a:r>
          </a:p>
        </p:txBody>
      </p:sp>
      <p:sp>
        <p:nvSpPr>
          <p:cNvPr id="30" name="Rectangle 29"/>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087F72"/>
                </a:solidFill>
                <a:latin typeface="DejaVu Sans"/>
              </a:defRPr>
            </a:pPr>
            <a:r>
              <a:t>Recorded evidence includes unsuccessful attempts and warnings, not only the passing summaries.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CONFIGURATION</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The exact two-core configuration</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Chipyard already provides this class; no hand-duplication of a Rocket core was needed.</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04</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a:t>
            </a:r>
          </a:p>
        </p:txBody>
      </p:sp>
      <p:sp>
        <p:nvSpPr>
          <p:cNvPr id="10" name="Rectangle 9"/>
          <p:cNvSpPr/>
          <p:nvPr/>
        </p:nvSpPr>
        <p:spPr>
          <a:xfrm>
            <a:off x="603504" y="1828800"/>
            <a:ext cx="10972800" cy="1938528"/>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39696"/>
            <a:ext cx="10378440" cy="1316736"/>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0">
                <a:solidFill>
                  <a:srgbClr val="FFFFFF"/>
                </a:solidFill>
                <a:latin typeface="DejaVu Sans Mono"/>
              </a:defRPr>
            </a:pPr>
            <a:r>
              <a:t>class DualRocketConfig extends Config(</a:t>
            </a:r>
          </a:p>
          <a:p>
            <a:pPr algn="l">
              <a:lnSpc>
                <a:spcPct val="110000"/>
              </a:lnSpc>
              <a:spcBef>
                <a:spcPts val="0"/>
              </a:spcBef>
              <a:spcAft>
                <a:spcPts val="500"/>
              </a:spcAft>
              <a:defRPr sz="2100" b="0">
                <a:solidFill>
                  <a:srgbClr val="FFFFFF"/>
                </a:solidFill>
                <a:latin typeface="DejaVu Sans Mono"/>
              </a:defRPr>
            </a:pPr>
            <a:r>
              <a:t>  new freechips.rocketchip.rocket.WithNHugeCores(2) ++</a:t>
            </a:r>
          </a:p>
          <a:p>
            <a:pPr algn="l">
              <a:lnSpc>
                <a:spcPct val="110000"/>
              </a:lnSpc>
              <a:spcBef>
                <a:spcPts val="0"/>
              </a:spcBef>
              <a:spcAft>
                <a:spcPts val="500"/>
              </a:spcAft>
              <a:defRPr sz="2100" b="0">
                <a:solidFill>
                  <a:srgbClr val="FFFFFF"/>
                </a:solidFill>
                <a:latin typeface="DejaVu Sans Mono"/>
              </a:defRPr>
            </a:pPr>
            <a:r>
              <a:t>  new chipyard.config.AbstractConfig)</a:t>
            </a:r>
          </a:p>
        </p:txBody>
      </p:sp>
      <p:sp>
        <p:nvSpPr>
          <p:cNvPr id="12" name="Rectangle 11"/>
          <p:cNvSpPr/>
          <p:nvPr/>
        </p:nvSpPr>
        <p:spPr>
          <a:xfrm>
            <a:off x="603504" y="4050791"/>
            <a:ext cx="5294376" cy="123444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 y="4050791"/>
            <a:ext cx="50292" cy="1234440"/>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169663"/>
            <a:ext cx="5020056"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3279A3"/>
                </a:solidFill>
                <a:latin typeface="DejaVu Sans"/>
              </a:defRPr>
            </a:pPr>
            <a:r>
              <a:t>SINGLE-CORE BASELINE</a:t>
            </a:r>
          </a:p>
        </p:txBody>
      </p:sp>
      <p:sp>
        <p:nvSpPr>
          <p:cNvPr id="15" name="TextBox 14"/>
          <p:cNvSpPr txBox="1"/>
          <p:nvPr/>
        </p:nvSpPr>
        <p:spPr>
          <a:xfrm>
            <a:off x="749808" y="4626864"/>
            <a:ext cx="5020056" cy="58521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RocketConfig uses WithNHugeCores(1).</a:t>
            </a:r>
          </a:p>
        </p:txBody>
      </p:sp>
      <p:sp>
        <p:nvSpPr>
          <p:cNvPr id="16" name="Rectangle 15"/>
          <p:cNvSpPr/>
          <p:nvPr/>
        </p:nvSpPr>
        <p:spPr>
          <a:xfrm>
            <a:off x="6190488" y="4050791"/>
            <a:ext cx="5385816" cy="123444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4050791"/>
            <a:ext cx="50292" cy="1234440"/>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4169663"/>
            <a:ext cx="5111496"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087F72"/>
                </a:solidFill>
                <a:latin typeface="DejaVu Sans"/>
              </a:defRPr>
            </a:pPr>
            <a:r>
              <a:t>SELECTED DESIGN</a:t>
            </a:r>
          </a:p>
        </p:txBody>
      </p:sp>
      <p:sp>
        <p:nvSpPr>
          <p:cNvPr id="19" name="TextBox 18"/>
          <p:cNvSpPr txBox="1"/>
          <p:nvPr/>
        </p:nvSpPr>
        <p:spPr>
          <a:xfrm>
            <a:off x="6336792" y="4626864"/>
            <a:ext cx="5111496" cy="58521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DualRocketConfig uses WithNHugeCores(2).</a:t>
            </a:r>
          </a:p>
        </p:txBody>
      </p:sp>
      <p:sp>
        <p:nvSpPr>
          <p:cNvPr id="20" name="Rectangle 19"/>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087F72"/>
                </a:solidFill>
                <a:latin typeface="DejaVu Sans"/>
              </a:defRPr>
            </a:pPr>
            <a:r>
              <a:t>The second hart shares the system fabric and L2; this is not two independent SoCs.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GENERATION</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From Scala to generated hardware</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The configuration is a recipe. Chipyard elaborates that recipe into RTL.</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05</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 | artifacts/rtl.sha256</a:t>
            </a:r>
          </a:p>
        </p:txBody>
      </p:sp>
      <p:sp>
        <p:nvSpPr>
          <p:cNvPr id="10" name="Rectangle 9"/>
          <p:cNvSpPr/>
          <p:nvPr/>
        </p:nvSpPr>
        <p:spPr>
          <a:xfrm>
            <a:off x="621792" y="1856231"/>
            <a:ext cx="2359152" cy="124358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1856231"/>
            <a:ext cx="50292" cy="124358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75103"/>
            <a:ext cx="208483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087F72"/>
                </a:solidFill>
                <a:latin typeface="DejaVu Sans"/>
              </a:defRPr>
            </a:pPr>
            <a:r>
              <a:t>Scala + CDE</a:t>
            </a:r>
          </a:p>
        </p:txBody>
      </p:sp>
      <p:sp>
        <p:nvSpPr>
          <p:cNvPr id="13" name="TextBox 12"/>
          <p:cNvSpPr txBox="1"/>
          <p:nvPr/>
        </p:nvSpPr>
        <p:spPr>
          <a:xfrm>
            <a:off x="768096" y="2432303"/>
            <a:ext cx="2084832" cy="59436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Select parameters</a:t>
            </a:r>
          </a:p>
        </p:txBody>
      </p:sp>
      <p:cxnSp>
        <p:nvCxnSpPr>
          <p:cNvPr id="14" name="Connector 13"/>
          <p:cNvCxnSpPr/>
          <p:nvPr/>
        </p:nvCxnSpPr>
        <p:spPr>
          <a:xfrm>
            <a:off x="2999232" y="2496312"/>
            <a:ext cx="384048"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93008" y="1856231"/>
            <a:ext cx="2359152" cy="124358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856231"/>
            <a:ext cx="50292" cy="124358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9312" y="1975103"/>
            <a:ext cx="208483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087F72"/>
                </a:solidFill>
                <a:latin typeface="DejaVu Sans"/>
              </a:defRPr>
            </a:pPr>
            <a:r>
              <a:t>Chisel</a:t>
            </a:r>
          </a:p>
        </p:txBody>
      </p:sp>
      <p:sp>
        <p:nvSpPr>
          <p:cNvPr id="18" name="TextBox 17"/>
          <p:cNvSpPr txBox="1"/>
          <p:nvPr/>
        </p:nvSpPr>
        <p:spPr>
          <a:xfrm>
            <a:off x="3639312" y="2432303"/>
            <a:ext cx="2084832" cy="59436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Elaborate + negotiate</a:t>
            </a:r>
          </a:p>
        </p:txBody>
      </p:sp>
      <p:cxnSp>
        <p:nvCxnSpPr>
          <p:cNvPr id="19" name="Connector 18"/>
          <p:cNvCxnSpPr/>
          <p:nvPr/>
        </p:nvCxnSpPr>
        <p:spPr>
          <a:xfrm>
            <a:off x="5870448" y="2496312"/>
            <a:ext cx="384048"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364224" y="1856231"/>
            <a:ext cx="2359152" cy="124358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64224" y="1856231"/>
            <a:ext cx="50292" cy="1243584"/>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1975103"/>
            <a:ext cx="208483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3279A3"/>
                </a:solidFill>
                <a:latin typeface="DejaVu Sans"/>
              </a:defRPr>
            </a:pPr>
            <a:r>
              <a:t>FIRRTL</a:t>
            </a:r>
          </a:p>
        </p:txBody>
      </p:sp>
      <p:sp>
        <p:nvSpPr>
          <p:cNvPr id="23" name="TextBox 22"/>
          <p:cNvSpPr txBox="1"/>
          <p:nvPr/>
        </p:nvSpPr>
        <p:spPr>
          <a:xfrm>
            <a:off x="6510528" y="2432303"/>
            <a:ext cx="2084832" cy="59436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Intermediate design</a:t>
            </a:r>
          </a:p>
        </p:txBody>
      </p:sp>
      <p:cxnSp>
        <p:nvCxnSpPr>
          <p:cNvPr id="24" name="Connector 23"/>
          <p:cNvCxnSpPr/>
          <p:nvPr/>
        </p:nvCxnSpPr>
        <p:spPr>
          <a:xfrm>
            <a:off x="8741664" y="2496312"/>
            <a:ext cx="384048" cy="0"/>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235440" y="1856231"/>
            <a:ext cx="2359152" cy="124358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35440" y="1856231"/>
            <a:ext cx="50292" cy="1243584"/>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81744" y="1975103"/>
            <a:ext cx="208483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3279A3"/>
                </a:solidFill>
                <a:latin typeface="DejaVu Sans"/>
              </a:defRPr>
            </a:pPr>
            <a:r>
              <a:t>firtool</a:t>
            </a:r>
          </a:p>
        </p:txBody>
      </p:sp>
      <p:sp>
        <p:nvSpPr>
          <p:cNvPr id="28" name="TextBox 27"/>
          <p:cNvSpPr txBox="1"/>
          <p:nvPr/>
        </p:nvSpPr>
        <p:spPr>
          <a:xfrm>
            <a:off x="9381744" y="2432303"/>
            <a:ext cx="2084832" cy="59436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Lower + split RTL</a:t>
            </a:r>
          </a:p>
        </p:txBody>
      </p:sp>
      <p:sp>
        <p:nvSpPr>
          <p:cNvPr id="29" name="TextBox 28"/>
          <p:cNvSpPr txBox="1"/>
          <p:nvPr/>
        </p:nvSpPr>
        <p:spPr>
          <a:xfrm>
            <a:off x="630936" y="3621024"/>
            <a:ext cx="4663440"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50" b="1">
                <a:solidFill>
                  <a:srgbClr val="20292D"/>
                </a:solidFill>
                <a:latin typeface="DejaVu Sans"/>
              </a:defRPr>
            </a:pPr>
            <a:r>
              <a:t>Generated outputs</a:t>
            </a:r>
          </a:p>
        </p:txBody>
      </p:sp>
      <p:sp>
        <p:nvSpPr>
          <p:cNvPr id="30" name="Rectangle 29"/>
          <p:cNvSpPr/>
          <p:nvPr/>
        </p:nvSpPr>
        <p:spPr>
          <a:xfrm>
            <a:off x="649224" y="4261104"/>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142232"/>
            <a:ext cx="618134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0">
                <a:solidFill>
                  <a:srgbClr val="20292D"/>
                </a:solidFill>
                <a:latin typeface="DejaVu Sans"/>
              </a:defRPr>
            </a:pPr>
            <a:r>
              <a:t>Split Verilog / SystemVerilog</a:t>
            </a:r>
          </a:p>
        </p:txBody>
      </p:sp>
      <p:sp>
        <p:nvSpPr>
          <p:cNvPr id="32" name="Rectangle 31"/>
          <p:cNvSpPr/>
          <p:nvPr/>
        </p:nvSpPr>
        <p:spPr>
          <a:xfrm>
            <a:off x="649224" y="4754880"/>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636008"/>
            <a:ext cx="618134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0">
                <a:solidFill>
                  <a:srgbClr val="20292D"/>
                </a:solidFill>
                <a:latin typeface="DejaVu Sans"/>
              </a:defRPr>
            </a:pPr>
            <a:r>
              <a:t>DTS, memory map, L2 metadata</a:t>
            </a:r>
          </a:p>
        </p:txBody>
      </p:sp>
      <p:sp>
        <p:nvSpPr>
          <p:cNvPr id="34" name="Rectangle 33"/>
          <p:cNvSpPr/>
          <p:nvPr/>
        </p:nvSpPr>
        <p:spPr>
          <a:xfrm>
            <a:off x="649224" y="5248656"/>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129784"/>
            <a:ext cx="618134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0">
                <a:solidFill>
                  <a:srgbClr val="20292D"/>
                </a:solidFill>
                <a:latin typeface="DejaVu Sans"/>
              </a:defRPr>
            </a:pPr>
            <a:r>
              <a:t>Memory interfaces and test selections</a:t>
            </a:r>
          </a:p>
        </p:txBody>
      </p:sp>
      <p:sp>
        <p:nvSpPr>
          <p:cNvPr id="36" name="TextBox 35"/>
          <p:cNvSpPr txBox="1"/>
          <p:nvPr/>
        </p:nvSpPr>
        <p:spPr>
          <a:xfrm>
            <a:off x="7726679" y="3639312"/>
            <a:ext cx="365760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476</a:t>
            </a:r>
          </a:p>
        </p:txBody>
      </p:sp>
      <p:sp>
        <p:nvSpPr>
          <p:cNvPr id="37" name="TextBox 36"/>
          <p:cNvSpPr txBox="1"/>
          <p:nvPr/>
        </p:nvSpPr>
        <p:spPr>
          <a:xfrm>
            <a:off x="7726679" y="4453128"/>
            <a:ext cx="3657600"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generated RTL source files</a:t>
            </a:r>
          </a:p>
        </p:txBody>
      </p:sp>
      <p:sp>
        <p:nvSpPr>
          <p:cNvPr id="38" name="TextBox 37"/>
          <p:cNvSpPr txBox="1"/>
          <p:nvPr/>
        </p:nvSpPr>
        <p:spPr>
          <a:xfrm>
            <a:off x="7726679" y="5157216"/>
            <a:ext cx="3657600" cy="731520"/>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0">
                <a:solidFill>
                  <a:srgbClr val="566469"/>
                </a:solidFill>
                <a:latin typeface="DejaVu Sans"/>
              </a:defRPr>
            </a:pPr>
            <a:r>
              <a:t>Snapshot includes simulation resources.</a:t>
            </a:r>
          </a:p>
          <a:p>
            <a:pPr algn="l">
              <a:lnSpc>
                <a:spcPct val="110000"/>
              </a:lnSpc>
              <a:spcBef>
                <a:spcPts val="0"/>
              </a:spcBef>
              <a:spcAft>
                <a:spcPts val="500"/>
              </a:spcAft>
              <a:defRPr sz="1400" b="0">
                <a:solidFill>
                  <a:srgbClr val="566469"/>
                </a:solidFill>
                <a:latin typeface="DejaVu Sans"/>
              </a:defRPr>
            </a:pPr>
            <a:r>
              <a:t>Only the selected hierarchy is analyzed.</a:t>
            </a:r>
          </a:p>
        </p:txBody>
      </p:sp>
      <p:sp>
        <p:nvSpPr>
          <p:cNvPr id="39" name="Rectangle 38"/>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087F72"/>
                </a:solidFill>
                <a:latin typeface="DejaVu Sans"/>
              </a:defRPr>
            </a:pPr>
            <a:r>
              <a:t>RTL generation and simulator compilation are separate make targets.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ARCHITECTURE</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Inside the full ChipTop SoC</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Simplified functional grouping; individual bus adapters and control branches are omitted.</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06</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artifacts/chipyard.harness.TestHarness.DualRocketConfig.l2.json</a:t>
            </a:r>
          </a:p>
        </p:txBody>
      </p:sp>
      <p:sp>
        <p:nvSpPr>
          <p:cNvPr id="10" name="Rectangle 9"/>
          <p:cNvSpPr/>
          <p:nvPr/>
        </p:nvSpPr>
        <p:spPr>
          <a:xfrm>
            <a:off x="630936" y="1792224"/>
            <a:ext cx="8284464" cy="4370832"/>
          </a:xfrm>
          <a:prstGeom prst="rect">
            <a:avLst/>
          </a:prstGeom>
          <a:solidFill>
            <a:srgbClr val="FFFFFF"/>
          </a:solidFill>
          <a:ln w="1524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1911095"/>
            <a:ext cx="457200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566469"/>
                </a:solidFill>
                <a:latin typeface="DejaVu Sans"/>
              </a:defRPr>
            </a:pPr>
            <a:r>
              <a:t>ChipTop / DigitalTop</a:t>
            </a:r>
          </a:p>
        </p:txBody>
      </p:sp>
      <p:sp>
        <p:nvSpPr>
          <p:cNvPr id="12" name="Rectangle 11"/>
          <p:cNvSpPr/>
          <p:nvPr/>
        </p:nvSpPr>
        <p:spPr>
          <a:xfrm>
            <a:off x="914400" y="2377440"/>
            <a:ext cx="3136392" cy="1197864"/>
          </a:xfrm>
          <a:prstGeom prst="rect">
            <a:avLst/>
          </a:prstGeom>
          <a:solidFill>
            <a:srgbClr val="E2F2ED"/>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377440"/>
            <a:ext cx="50292" cy="119786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2496312"/>
            <a:ext cx="286207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087F72"/>
                </a:solidFill>
                <a:latin typeface="DejaVu Sans"/>
              </a:defRPr>
            </a:pPr>
            <a:r>
              <a:t>ROCKET TILE 0</a:t>
            </a:r>
          </a:p>
        </p:txBody>
      </p:sp>
      <p:sp>
        <p:nvSpPr>
          <p:cNvPr id="15" name="TextBox 14"/>
          <p:cNvSpPr txBox="1"/>
          <p:nvPr/>
        </p:nvSpPr>
        <p:spPr>
          <a:xfrm>
            <a:off x="1060704" y="2953512"/>
            <a:ext cx="2862072" cy="548640"/>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0">
                <a:solidFill>
                  <a:srgbClr val="566469"/>
                </a:solidFill>
                <a:latin typeface="DejaVu Sans"/>
              </a:defRPr>
            </a:pPr>
            <a:r>
              <a:t>RV64 + FPU</a:t>
            </a:r>
          </a:p>
          <a:p>
            <a:pPr algn="l">
              <a:lnSpc>
                <a:spcPct val="110000"/>
              </a:lnSpc>
              <a:spcBef>
                <a:spcPts val="0"/>
              </a:spcBef>
              <a:spcAft>
                <a:spcPts val="500"/>
              </a:spcAft>
              <a:defRPr sz="1400" b="0">
                <a:solidFill>
                  <a:srgbClr val="566469"/>
                </a:solidFill>
                <a:latin typeface="DejaVu Sans"/>
              </a:defRPr>
            </a:pPr>
            <a:r>
              <a:t>32 KiB I$ + 32 KiB D$</a:t>
            </a:r>
          </a:p>
        </p:txBody>
      </p:sp>
      <p:sp>
        <p:nvSpPr>
          <p:cNvPr id="16" name="Rectangle 15"/>
          <p:cNvSpPr/>
          <p:nvPr/>
        </p:nvSpPr>
        <p:spPr>
          <a:xfrm>
            <a:off x="4754880" y="2377440"/>
            <a:ext cx="3136392" cy="1197864"/>
          </a:xfrm>
          <a:prstGeom prst="rect">
            <a:avLst/>
          </a:prstGeom>
          <a:solidFill>
            <a:srgbClr val="E2F2ED"/>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2377440"/>
            <a:ext cx="50292" cy="119786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01184" y="2496312"/>
            <a:ext cx="286207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087F72"/>
                </a:solidFill>
                <a:latin typeface="DejaVu Sans"/>
              </a:defRPr>
            </a:pPr>
            <a:r>
              <a:t>ROCKET TILE 1</a:t>
            </a:r>
          </a:p>
        </p:txBody>
      </p:sp>
      <p:sp>
        <p:nvSpPr>
          <p:cNvPr id="19" name="TextBox 18"/>
          <p:cNvSpPr txBox="1"/>
          <p:nvPr/>
        </p:nvSpPr>
        <p:spPr>
          <a:xfrm>
            <a:off x="4901184" y="2953512"/>
            <a:ext cx="2862072" cy="548640"/>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0">
                <a:solidFill>
                  <a:srgbClr val="566469"/>
                </a:solidFill>
                <a:latin typeface="DejaVu Sans"/>
              </a:defRPr>
            </a:pPr>
            <a:r>
              <a:t>RV64 + FPU</a:t>
            </a:r>
          </a:p>
          <a:p>
            <a:pPr algn="l">
              <a:lnSpc>
                <a:spcPct val="110000"/>
              </a:lnSpc>
              <a:spcBef>
                <a:spcPts val="0"/>
              </a:spcBef>
              <a:spcAft>
                <a:spcPts val="500"/>
              </a:spcAft>
              <a:defRPr sz="1400" b="0">
                <a:solidFill>
                  <a:srgbClr val="566469"/>
                </a:solidFill>
                <a:latin typeface="DejaVu Sans"/>
              </a:defRPr>
            </a:pPr>
            <a:r>
              <a:t>32 KiB I$ + 32 KiB D$</a:t>
            </a:r>
          </a:p>
        </p:txBody>
      </p:sp>
      <p:cxnSp>
        <p:nvCxnSpPr>
          <p:cNvPr id="20" name="Connector 19"/>
          <p:cNvCxnSpPr/>
          <p:nvPr/>
        </p:nvCxnSpPr>
        <p:spPr>
          <a:xfrm>
            <a:off x="2487168" y="3575304"/>
            <a:ext cx="0" cy="192024"/>
          </a:xfrm>
          <a:prstGeom prst="line">
            <a:avLst/>
          </a:prstGeom>
          <a:ln w="25400">
            <a:solidFill>
              <a:srgbClr val="087F7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327648" y="3575304"/>
            <a:ext cx="0" cy="192024"/>
          </a:xfrm>
          <a:prstGeom prst="line">
            <a:avLst/>
          </a:prstGeom>
          <a:ln w="25400">
            <a:solidFill>
              <a:srgbClr val="087F72"/>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14400" y="3785615"/>
            <a:ext cx="6976872" cy="32918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03120" y="3794760"/>
            <a:ext cx="4480560" cy="274320"/>
          </a:xfrm>
          <a:prstGeom prst="rect">
            <a:avLst/>
          </a:prstGeom>
          <a:noFill/>
        </p:spPr>
        <p:txBody>
          <a:bodyPr wrap="square" lIns="9144" rIns="9144" tIns="13716" bIns="13716" anchor="t">
            <a:spAutoFit/>
          </a:bodyPr>
          <a:lstStyle/>
          <a:p>
            <a:pPr algn="ctr">
              <a:lnSpc>
                <a:spcPct val="110000"/>
              </a:lnSpc>
              <a:spcBef>
                <a:spcPts val="0"/>
              </a:spcBef>
              <a:spcAft>
                <a:spcPts val="500"/>
              </a:spcAft>
              <a:defRPr sz="1500" b="1">
                <a:solidFill>
                  <a:srgbClr val="FFFFFF"/>
                </a:solidFill>
                <a:latin typeface="DejaVu Sans"/>
              </a:defRPr>
            </a:pPr>
            <a:r>
              <a:t>TileLink SBUS</a:t>
            </a:r>
          </a:p>
        </p:txBody>
      </p:sp>
      <p:cxnSp>
        <p:nvCxnSpPr>
          <p:cNvPr id="24" name="Connector 23"/>
          <p:cNvCxnSpPr/>
          <p:nvPr/>
        </p:nvCxnSpPr>
        <p:spPr>
          <a:xfrm>
            <a:off x="2487168" y="4114800"/>
            <a:ext cx="0" cy="402336"/>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327648" y="4114800"/>
            <a:ext cx="0" cy="402336"/>
          </a:xfrm>
          <a:prstGeom prst="line">
            <a:avLst/>
          </a:prstGeom>
          <a:ln w="25400">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00016" y="4187952"/>
            <a:ext cx="3200400" cy="256032"/>
          </a:xfrm>
          <a:prstGeom prst="rect">
            <a:avLst/>
          </a:prstGeom>
          <a:solidFill>
            <a:srgbClr val="FFFFFF"/>
          </a:solidFill>
        </p:spPr>
        <p:txBody>
          <a:bodyPr wrap="square" lIns="9144" rIns="9144" tIns="13716" bIns="13716" anchor="t">
            <a:spAutoFit/>
          </a:bodyPr>
          <a:lstStyle/>
          <a:p>
            <a:pPr algn="ctr">
              <a:lnSpc>
                <a:spcPct val="110000"/>
              </a:lnSpc>
              <a:spcBef>
                <a:spcPts val="0"/>
              </a:spcBef>
              <a:spcAft>
                <a:spcPts val="500"/>
              </a:spcAft>
              <a:defRPr sz="1200" b="0">
                <a:solidFill>
                  <a:srgbClr val="566469"/>
                </a:solidFill>
                <a:latin typeface="DejaVu Sans"/>
              </a:defRPr>
            </a:pPr>
            <a:r>
              <a:t>CBUS / PBUS control path</a:t>
            </a:r>
          </a:p>
        </p:txBody>
      </p:sp>
      <p:sp>
        <p:nvSpPr>
          <p:cNvPr id="27" name="Rectangle 26"/>
          <p:cNvSpPr/>
          <p:nvPr/>
        </p:nvSpPr>
        <p:spPr>
          <a:xfrm>
            <a:off x="914400" y="4544568"/>
            <a:ext cx="3136392" cy="941832"/>
          </a:xfrm>
          <a:prstGeom prst="rect">
            <a:avLst/>
          </a:prstGeom>
          <a:solidFill>
            <a:srgbClr val="EBF0E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4544568"/>
            <a:ext cx="50292" cy="941832"/>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 y="4663440"/>
            <a:ext cx="286207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3279A3"/>
                </a:solidFill>
                <a:latin typeface="DejaVu Sans"/>
              </a:defRPr>
            </a:pPr>
            <a:r>
              <a:t>SHARED L2</a:t>
            </a:r>
          </a:p>
        </p:txBody>
      </p:sp>
      <p:sp>
        <p:nvSpPr>
          <p:cNvPr id="30" name="TextBox 29"/>
          <p:cNvSpPr txBox="1"/>
          <p:nvPr/>
        </p:nvSpPr>
        <p:spPr>
          <a:xfrm>
            <a:off x="1060704" y="5120640"/>
            <a:ext cx="2862072"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0">
                <a:solidFill>
                  <a:srgbClr val="566469"/>
                </a:solidFill>
                <a:latin typeface="DejaVu Sans"/>
              </a:defRPr>
            </a:pPr>
            <a:r>
              <a:t>512 KiB inclusive cache</a:t>
            </a:r>
          </a:p>
        </p:txBody>
      </p:sp>
      <p:sp>
        <p:nvSpPr>
          <p:cNvPr id="31" name="Rectangle 30"/>
          <p:cNvSpPr/>
          <p:nvPr/>
        </p:nvSpPr>
        <p:spPr>
          <a:xfrm>
            <a:off x="4754880" y="4544568"/>
            <a:ext cx="3136392" cy="941832"/>
          </a:xfrm>
          <a:prstGeom prst="rect">
            <a:avLst/>
          </a:prstGeom>
          <a:solidFill>
            <a:srgbClr val="EBF0E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0" y="4544568"/>
            <a:ext cx="50292" cy="941832"/>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01184" y="4663440"/>
            <a:ext cx="286207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CE594B"/>
                </a:solidFill>
                <a:latin typeface="DejaVu Sans"/>
              </a:defRPr>
            </a:pPr>
            <a:r>
              <a:t>SYSTEM SERVICES</a:t>
            </a:r>
          </a:p>
        </p:txBody>
      </p:sp>
      <p:sp>
        <p:nvSpPr>
          <p:cNvPr id="34" name="TextBox 33"/>
          <p:cNvSpPr txBox="1"/>
          <p:nvPr/>
        </p:nvSpPr>
        <p:spPr>
          <a:xfrm>
            <a:off x="4901184" y="5120640"/>
            <a:ext cx="2862072"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0">
                <a:solidFill>
                  <a:srgbClr val="566469"/>
                </a:solidFill>
                <a:latin typeface="DejaVu Sans"/>
              </a:defRPr>
            </a:pPr>
            <a:r>
              <a:t>Boot / debug / IRQ / UART</a:t>
            </a:r>
          </a:p>
        </p:txBody>
      </p:sp>
      <p:cxnSp>
        <p:nvCxnSpPr>
          <p:cNvPr id="35" name="Connector 34"/>
          <p:cNvCxnSpPr/>
          <p:nvPr/>
        </p:nvCxnSpPr>
        <p:spPr>
          <a:xfrm>
            <a:off x="2487168" y="5486400"/>
            <a:ext cx="0" cy="192024"/>
          </a:xfrm>
          <a:prstGeom prst="line">
            <a:avLst/>
          </a:prstGeom>
          <a:ln w="25400">
            <a:solidFill>
              <a:srgbClr val="087F72"/>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14400" y="5687568"/>
            <a:ext cx="3136392" cy="301752"/>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696712"/>
            <a:ext cx="2834640" cy="246888"/>
          </a:xfrm>
          <a:prstGeom prst="rect">
            <a:avLst/>
          </a:prstGeom>
          <a:noFill/>
        </p:spPr>
        <p:txBody>
          <a:bodyPr wrap="square" lIns="9144" rIns="9144" tIns="13716" bIns="13716" anchor="t">
            <a:spAutoFit/>
          </a:bodyPr>
          <a:lstStyle/>
          <a:p>
            <a:pPr algn="ctr">
              <a:lnSpc>
                <a:spcPct val="110000"/>
              </a:lnSpc>
              <a:spcBef>
                <a:spcPts val="0"/>
              </a:spcBef>
              <a:spcAft>
                <a:spcPts val="500"/>
              </a:spcAft>
              <a:defRPr sz="1350" b="1">
                <a:solidFill>
                  <a:srgbClr val="FFFFFF"/>
                </a:solidFill>
                <a:latin typeface="DejaVu Sans"/>
              </a:defRPr>
            </a:pPr>
            <a:r>
              <a:t>MBUS</a:t>
            </a:r>
          </a:p>
        </p:txBody>
      </p:sp>
      <p:cxnSp>
        <p:nvCxnSpPr>
          <p:cNvPr id="38" name="Connector 37"/>
          <p:cNvCxnSpPr/>
          <p:nvPr/>
        </p:nvCxnSpPr>
        <p:spPr>
          <a:xfrm>
            <a:off x="4050791" y="5843016"/>
            <a:ext cx="658369" cy="0"/>
          </a:xfrm>
          <a:prstGeom prst="line">
            <a:avLst/>
          </a:prstGeom>
          <a:ln w="25400">
            <a:solidFill>
              <a:srgbClr val="3279A3"/>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754880" y="5660136"/>
            <a:ext cx="3136392" cy="365760"/>
          </a:xfrm>
          <a:prstGeom prst="rect">
            <a:avLst/>
          </a:prstGeom>
          <a:solidFill>
            <a:srgbClr val="EBF0E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2040" y="5696712"/>
            <a:ext cx="2834640" cy="256032"/>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1">
                <a:solidFill>
                  <a:srgbClr val="20292D"/>
                </a:solidFill>
                <a:latin typeface="DejaVu Sans"/>
              </a:defRPr>
            </a:pPr>
            <a:r>
              <a:t>64 KiB scratchpad</a:t>
            </a:r>
          </a:p>
        </p:txBody>
      </p:sp>
      <p:cxnSp>
        <p:nvCxnSpPr>
          <p:cNvPr id="41" name="Connector 40"/>
          <p:cNvCxnSpPr/>
          <p:nvPr/>
        </p:nvCxnSpPr>
        <p:spPr>
          <a:xfrm>
            <a:off x="4334256" y="5843016"/>
            <a:ext cx="0" cy="256032"/>
          </a:xfrm>
          <a:prstGeom prst="line">
            <a:avLst/>
          </a:prstGeom>
          <a:ln w="25400">
            <a:solidFill>
              <a:srgbClr val="3279A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6" y="6099048"/>
            <a:ext cx="4123944" cy="0"/>
          </a:xfrm>
          <a:prstGeom prst="line">
            <a:avLst/>
          </a:prstGeom>
          <a:ln w="25400">
            <a:solidFill>
              <a:srgbClr val="3279A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8458200" y="5166360"/>
            <a:ext cx="0" cy="932688"/>
          </a:xfrm>
          <a:prstGeom prst="line">
            <a:avLst/>
          </a:prstGeom>
          <a:ln w="25400">
            <a:solidFill>
              <a:srgbClr val="3279A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58200" y="5166360"/>
            <a:ext cx="685800" cy="0"/>
          </a:xfrm>
          <a:prstGeom prst="line">
            <a:avLst/>
          </a:prstGeom>
          <a:ln w="25400">
            <a:solidFill>
              <a:srgbClr val="3279A3"/>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153144" y="4133087"/>
            <a:ext cx="2432304" cy="179222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153144" y="4133087"/>
            <a:ext cx="50292" cy="1792224"/>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99448" y="4251959"/>
            <a:ext cx="2157984"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3279A3"/>
                </a:solidFill>
                <a:latin typeface="DejaVu Sans"/>
              </a:defRPr>
            </a:pPr>
            <a:r>
              <a:t>AXI4 MEMORY</a:t>
            </a:r>
          </a:p>
        </p:txBody>
      </p:sp>
      <p:sp>
        <p:nvSpPr>
          <p:cNvPr id="48" name="TextBox 47"/>
          <p:cNvSpPr txBox="1"/>
          <p:nvPr/>
        </p:nvSpPr>
        <p:spPr>
          <a:xfrm>
            <a:off x="9299448" y="4709159"/>
            <a:ext cx="2157984" cy="1143000"/>
          </a:xfrm>
          <a:prstGeom prst="rect">
            <a:avLst/>
          </a:prstGeom>
          <a:noFill/>
        </p:spPr>
        <p:txBody>
          <a:bodyPr wrap="square" lIns="9144" rIns="9144" tIns="13716" bIns="13716" anchor="t">
            <a:spAutoFit/>
          </a:bodyPr>
          <a:lstStyle/>
          <a:p>
            <a:pPr algn="l">
              <a:lnSpc>
                <a:spcPct val="110000"/>
              </a:lnSpc>
              <a:spcBef>
                <a:spcPts val="0"/>
              </a:spcBef>
              <a:spcAft>
                <a:spcPts val="500"/>
              </a:spcAft>
              <a:defRPr sz="1400" b="0">
                <a:solidFill>
                  <a:srgbClr val="566469"/>
                </a:solidFill>
                <a:latin typeface="DejaVu Sans"/>
              </a:defRPr>
            </a:pPr>
            <a:r>
              <a:t>256 MiB window</a:t>
            </a:r>
          </a:p>
          <a:p>
            <a:pPr algn="l">
              <a:lnSpc>
                <a:spcPct val="110000"/>
              </a:lnSpc>
              <a:spcBef>
                <a:spcPts val="0"/>
              </a:spcBef>
              <a:spcAft>
                <a:spcPts val="500"/>
              </a:spcAft>
              <a:defRPr sz="1400" b="0">
                <a:solidFill>
                  <a:srgbClr val="566469"/>
                </a:solidFill>
                <a:latin typeface="DejaVu Sans"/>
              </a:defRPr>
            </a:pPr>
            <a:r>
              <a:t>64-bit data</a:t>
            </a:r>
          </a:p>
          <a:p>
            <a:pPr algn="l">
              <a:lnSpc>
                <a:spcPct val="110000"/>
              </a:lnSpc>
              <a:spcBef>
                <a:spcPts val="0"/>
              </a:spcBef>
              <a:spcAft>
                <a:spcPts val="500"/>
              </a:spcAft>
              <a:defRPr sz="1400" b="0">
                <a:solidFill>
                  <a:srgbClr val="566469"/>
                </a:solidFill>
                <a:latin typeface="DejaVu Sans"/>
              </a:defRPr>
            </a:pPr>
            <a:r>
              <a:t>Outside ChipTop</a:t>
            </a:r>
          </a:p>
        </p:txBody>
      </p:sp>
      <p:sp>
        <p:nvSpPr>
          <p:cNvPr id="49" name="TextBox 48"/>
          <p:cNvSpPr txBox="1"/>
          <p:nvPr/>
        </p:nvSpPr>
        <p:spPr>
          <a:xfrm>
            <a:off x="9153144" y="2359152"/>
            <a:ext cx="2432304" cy="13258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Other ports:</a:t>
            </a:r>
          </a:p>
          <a:p>
            <a:pPr algn="l">
              <a:lnSpc>
                <a:spcPct val="110000"/>
              </a:lnSpc>
              <a:spcBef>
                <a:spcPts val="0"/>
              </a:spcBef>
              <a:spcAft>
                <a:spcPts val="500"/>
              </a:spcAft>
              <a:defRPr sz="1700" b="0">
                <a:solidFill>
                  <a:srgbClr val="566469"/>
                </a:solidFill>
                <a:latin typeface="DejaVu Sans"/>
              </a:defRPr>
            </a:pPr>
            <a:r>
              <a:t>UART and JTAG</a:t>
            </a:r>
          </a:p>
          <a:p>
            <a:pPr algn="l">
              <a:lnSpc>
                <a:spcPct val="110000"/>
              </a:lnSpc>
              <a:spcBef>
                <a:spcPts val="0"/>
              </a:spcBef>
              <a:spcAft>
                <a:spcPts val="500"/>
              </a:spcAft>
              <a:defRPr sz="1700" b="0">
                <a:solidFill>
                  <a:srgbClr val="566469"/>
                </a:solidFill>
                <a:latin typeface="DejaVu Sans"/>
              </a:defRPr>
            </a:pPr>
            <a:r>
              <a:t>Serial TileLink</a:t>
            </a:r>
          </a:p>
          <a:p>
            <a:pPr algn="l">
              <a:lnSpc>
                <a:spcPct val="110000"/>
              </a:lnSpc>
              <a:spcBef>
                <a:spcPts val="0"/>
              </a:spcBef>
              <a:spcAft>
                <a:spcPts val="500"/>
              </a:spcAft>
              <a:defRPr sz="1700" b="0">
                <a:solidFill>
                  <a:srgbClr val="566469"/>
                </a:solidFill>
                <a:latin typeface="DejaVu Sans"/>
              </a:defRPr>
            </a:pPr>
            <a:r>
              <a:t>Clock and reset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PROCESSORS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What each Rocket tile contains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Hart 0 and hart 1 use the same core preset and private L1 geometry.</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07</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a:t>
            </a:r>
          </a:p>
        </p:txBody>
      </p:sp>
      <p:sp>
        <p:nvSpPr>
          <p:cNvPr id="10" name="Rectangle 9"/>
          <p:cNvSpPr/>
          <p:nvPr/>
        </p:nvSpPr>
        <p:spPr>
          <a:xfrm>
            <a:off x="594360" y="1847088"/>
            <a:ext cx="11009376" cy="493776"/>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38528"/>
            <a:ext cx="2724912"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RESOURCE</a:t>
            </a:r>
          </a:p>
        </p:txBody>
      </p:sp>
      <p:sp>
        <p:nvSpPr>
          <p:cNvPr id="12" name="TextBox 11"/>
          <p:cNvSpPr txBox="1"/>
          <p:nvPr/>
        </p:nvSpPr>
        <p:spPr>
          <a:xfrm>
            <a:off x="3630168" y="1938528"/>
            <a:ext cx="7882127"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PER-HART CONFIGURATION</a:t>
            </a:r>
          </a:p>
        </p:txBody>
      </p:sp>
      <p:sp>
        <p:nvSpPr>
          <p:cNvPr id="13" name="Rectangle 12"/>
          <p:cNvSpPr/>
          <p:nvPr/>
        </p:nvSpPr>
        <p:spPr>
          <a:xfrm>
            <a:off x="594360" y="2340864"/>
            <a:ext cx="110093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423160"/>
            <a:ext cx="2724912"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Execution</a:t>
            </a:r>
          </a:p>
        </p:txBody>
      </p:sp>
      <p:sp>
        <p:nvSpPr>
          <p:cNvPr id="15" name="TextBox 14"/>
          <p:cNvSpPr txBox="1"/>
          <p:nvPr/>
        </p:nvSpPr>
        <p:spPr>
          <a:xfrm>
            <a:off x="3630168" y="2423160"/>
            <a:ext cx="7882127"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RV64, in-order, single-instruction decode / retirement</a:t>
            </a:r>
          </a:p>
        </p:txBody>
      </p:sp>
      <p:sp>
        <p:nvSpPr>
          <p:cNvPr id="16" name="Rectangle 15"/>
          <p:cNvSpPr/>
          <p:nvPr/>
        </p:nvSpPr>
        <p:spPr>
          <a:xfrm>
            <a:off x="594360" y="2834640"/>
            <a:ext cx="11009376" cy="49377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16936"/>
            <a:ext cx="2724912"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Arithmetic</a:t>
            </a:r>
          </a:p>
        </p:txBody>
      </p:sp>
      <p:sp>
        <p:nvSpPr>
          <p:cNvPr id="18" name="TextBox 17"/>
          <p:cNvSpPr txBox="1"/>
          <p:nvPr/>
        </p:nvSpPr>
        <p:spPr>
          <a:xfrm>
            <a:off x="3630168" y="2916936"/>
            <a:ext cx="7882127"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I/M/A/C + Zba/Zbb/Zbs; floating point F/D/Zfh</a:t>
            </a:r>
          </a:p>
        </p:txBody>
      </p:sp>
      <p:sp>
        <p:nvSpPr>
          <p:cNvPr id="19" name="Rectangle 18"/>
          <p:cNvSpPr/>
          <p:nvPr/>
        </p:nvSpPr>
        <p:spPr>
          <a:xfrm>
            <a:off x="594360" y="3328416"/>
            <a:ext cx="110093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10712"/>
            <a:ext cx="2724912"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Privilege and MMU</a:t>
            </a:r>
          </a:p>
        </p:txBody>
      </p:sp>
      <p:sp>
        <p:nvSpPr>
          <p:cNvPr id="21" name="TextBox 20"/>
          <p:cNvSpPr txBox="1"/>
          <p:nvPr/>
        </p:nvSpPr>
        <p:spPr>
          <a:xfrm>
            <a:off x="3630168" y="3410712"/>
            <a:ext cx="7882127"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Machine / supervisor / user modes; Sv39 virtual memory</a:t>
            </a:r>
          </a:p>
        </p:txBody>
      </p:sp>
      <p:sp>
        <p:nvSpPr>
          <p:cNvPr id="22" name="Rectangle 21"/>
          <p:cNvSpPr/>
          <p:nvPr/>
        </p:nvSpPr>
        <p:spPr>
          <a:xfrm>
            <a:off x="594360" y="3822191"/>
            <a:ext cx="11009376" cy="49377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904487"/>
            <a:ext cx="2724912"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Instruction cache</a:t>
            </a:r>
          </a:p>
        </p:txBody>
      </p:sp>
      <p:sp>
        <p:nvSpPr>
          <p:cNvPr id="24" name="TextBox 23"/>
          <p:cNvSpPr txBox="1"/>
          <p:nvPr/>
        </p:nvSpPr>
        <p:spPr>
          <a:xfrm>
            <a:off x="3630168" y="3904487"/>
            <a:ext cx="7882127"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32 KiB, 8 ways, 64 sets, 64-byte lines</a:t>
            </a:r>
          </a:p>
        </p:txBody>
      </p:sp>
      <p:sp>
        <p:nvSpPr>
          <p:cNvPr id="25" name="Rectangle 24"/>
          <p:cNvSpPr/>
          <p:nvPr/>
        </p:nvSpPr>
        <p:spPr>
          <a:xfrm>
            <a:off x="594360" y="4315968"/>
            <a:ext cx="11009376"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398264"/>
            <a:ext cx="2724912"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Data cache</a:t>
            </a:r>
          </a:p>
        </p:txBody>
      </p:sp>
      <p:sp>
        <p:nvSpPr>
          <p:cNvPr id="27" name="TextBox 26"/>
          <p:cNvSpPr txBox="1"/>
          <p:nvPr/>
        </p:nvSpPr>
        <p:spPr>
          <a:xfrm>
            <a:off x="3630168" y="4398264"/>
            <a:ext cx="7882127"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32 KiB, 8 ways; blocking cache (nMSHRs = 0)</a:t>
            </a:r>
          </a:p>
        </p:txBody>
      </p:sp>
      <p:sp>
        <p:nvSpPr>
          <p:cNvPr id="28" name="Rectangle 27"/>
          <p:cNvSpPr/>
          <p:nvPr/>
        </p:nvSpPr>
        <p:spPr>
          <a:xfrm>
            <a:off x="594360" y="4809744"/>
            <a:ext cx="11009376" cy="49377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892040"/>
            <a:ext cx="2724912"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Protection and TLBs</a:t>
            </a:r>
          </a:p>
        </p:txBody>
      </p:sp>
      <p:sp>
        <p:nvSpPr>
          <p:cNvPr id="30" name="TextBox 29"/>
          <p:cNvSpPr txBox="1"/>
          <p:nvPr/>
        </p:nvSpPr>
        <p:spPr>
          <a:xfrm>
            <a:off x="3630168" y="4892040"/>
            <a:ext cx="7882127"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8 PMP entries; 32-entry instruction and data TLBs</a:t>
            </a:r>
          </a:p>
        </p:txBody>
      </p:sp>
      <p:sp>
        <p:nvSpPr>
          <p:cNvPr id="31" name="Rectangle 30"/>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Not selected: vector V, Zbc carry-less multiply, or Zicboz cache-block zero.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MEMORY</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The memory hierarchy</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Architectural capacities are different from mapped SRAM bits and library cell area.</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08</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reports/synthesis/README.md</a:t>
            </a:r>
          </a:p>
        </p:txBody>
      </p:sp>
      <p:sp>
        <p:nvSpPr>
          <p:cNvPr id="10" name="Rectangle 9"/>
          <p:cNvSpPr/>
          <p:nvPr/>
        </p:nvSpPr>
        <p:spPr>
          <a:xfrm>
            <a:off x="612648" y="1837943"/>
            <a:ext cx="2368296" cy="71323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39112"/>
            <a:ext cx="2011680"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PRIVATE L1</a:t>
            </a:r>
          </a:p>
        </p:txBody>
      </p:sp>
      <p:sp>
        <p:nvSpPr>
          <p:cNvPr id="12" name="TextBox 11"/>
          <p:cNvSpPr txBox="1"/>
          <p:nvPr/>
        </p:nvSpPr>
        <p:spPr>
          <a:xfrm>
            <a:off x="3319272" y="1947672"/>
            <a:ext cx="2971800"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500" b="1">
                <a:solidFill>
                  <a:srgbClr val="087F72"/>
                </a:solidFill>
                <a:latin typeface="DejaVu Sans"/>
              </a:defRPr>
            </a:pPr>
            <a:r>
              <a:t>128 KiB total</a:t>
            </a:r>
          </a:p>
        </p:txBody>
      </p:sp>
      <p:sp>
        <p:nvSpPr>
          <p:cNvPr id="13" name="TextBox 12"/>
          <p:cNvSpPr txBox="1"/>
          <p:nvPr/>
        </p:nvSpPr>
        <p:spPr>
          <a:xfrm>
            <a:off x="6492240" y="2011679"/>
            <a:ext cx="4882896" cy="429768"/>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32 KiB I$ + 32 KiB D$ per hart</a:t>
            </a:r>
          </a:p>
        </p:txBody>
      </p:sp>
      <p:sp>
        <p:nvSpPr>
          <p:cNvPr id="14" name="Rectangle 13"/>
          <p:cNvSpPr/>
          <p:nvPr/>
        </p:nvSpPr>
        <p:spPr>
          <a:xfrm>
            <a:off x="612648" y="2697479"/>
            <a:ext cx="2368296" cy="713232"/>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98648"/>
            <a:ext cx="2011680"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SHARED L2</a:t>
            </a:r>
          </a:p>
        </p:txBody>
      </p:sp>
      <p:sp>
        <p:nvSpPr>
          <p:cNvPr id="16" name="TextBox 15"/>
          <p:cNvSpPr txBox="1"/>
          <p:nvPr/>
        </p:nvSpPr>
        <p:spPr>
          <a:xfrm>
            <a:off x="3319272" y="2807208"/>
            <a:ext cx="2971800"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500" b="1">
                <a:solidFill>
                  <a:srgbClr val="3279A3"/>
                </a:solidFill>
                <a:latin typeface="DejaVu Sans"/>
              </a:defRPr>
            </a:pPr>
            <a:r>
              <a:t>512 KiB</a:t>
            </a:r>
          </a:p>
        </p:txBody>
      </p:sp>
      <p:sp>
        <p:nvSpPr>
          <p:cNvPr id="17" name="TextBox 16"/>
          <p:cNvSpPr txBox="1"/>
          <p:nvPr/>
        </p:nvSpPr>
        <p:spPr>
          <a:xfrm>
            <a:off x="6492240" y="2871215"/>
            <a:ext cx="4882896" cy="429768"/>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Inclusive, 8-way, one coherence bank</a:t>
            </a:r>
          </a:p>
        </p:txBody>
      </p:sp>
      <p:sp>
        <p:nvSpPr>
          <p:cNvPr id="18" name="Rectangle 17"/>
          <p:cNvSpPr/>
          <p:nvPr/>
        </p:nvSpPr>
        <p:spPr>
          <a:xfrm>
            <a:off x="612648" y="3557015"/>
            <a:ext cx="2368296" cy="713232"/>
          </a:xfrm>
          <a:prstGeom prst="rect">
            <a:avLst/>
          </a:prstGeom>
          <a:solidFill>
            <a:srgbClr val="AC8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58183"/>
            <a:ext cx="2011680"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SCRATCHPAD</a:t>
            </a:r>
          </a:p>
        </p:txBody>
      </p:sp>
      <p:sp>
        <p:nvSpPr>
          <p:cNvPr id="20" name="TextBox 19"/>
          <p:cNvSpPr txBox="1"/>
          <p:nvPr/>
        </p:nvSpPr>
        <p:spPr>
          <a:xfrm>
            <a:off x="3319272" y="3666744"/>
            <a:ext cx="2971800"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500" b="1">
                <a:solidFill>
                  <a:srgbClr val="AC801D"/>
                </a:solidFill>
                <a:latin typeface="DejaVu Sans"/>
              </a:defRPr>
            </a:pPr>
            <a:r>
              <a:t>64 KiB</a:t>
            </a:r>
          </a:p>
        </p:txBody>
      </p:sp>
      <p:sp>
        <p:nvSpPr>
          <p:cNvPr id="21" name="TextBox 20"/>
          <p:cNvSpPr txBox="1"/>
          <p:nvPr/>
        </p:nvSpPr>
        <p:spPr>
          <a:xfrm>
            <a:off x="6492240" y="3730752"/>
            <a:ext cx="4882896" cy="429768"/>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On-chip at 0x08000000; DTS disabled</a:t>
            </a:r>
          </a:p>
        </p:txBody>
      </p:sp>
      <p:sp>
        <p:nvSpPr>
          <p:cNvPr id="22" name="Rectangle 21"/>
          <p:cNvSpPr/>
          <p:nvPr/>
        </p:nvSpPr>
        <p:spPr>
          <a:xfrm>
            <a:off x="612648" y="4416552"/>
            <a:ext cx="2368296" cy="713232"/>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617720"/>
            <a:ext cx="2011680"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MAIN MEMORY</a:t>
            </a:r>
          </a:p>
        </p:txBody>
      </p:sp>
      <p:sp>
        <p:nvSpPr>
          <p:cNvPr id="24" name="TextBox 23"/>
          <p:cNvSpPr txBox="1"/>
          <p:nvPr/>
        </p:nvSpPr>
        <p:spPr>
          <a:xfrm>
            <a:off x="3319272" y="4526280"/>
            <a:ext cx="2971800"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500" b="1">
                <a:solidFill>
                  <a:srgbClr val="CE594B"/>
                </a:solidFill>
                <a:latin typeface="DejaVu Sans"/>
              </a:defRPr>
            </a:pPr>
            <a:r>
              <a:t>256 MiB window</a:t>
            </a:r>
          </a:p>
        </p:txBody>
      </p:sp>
      <p:sp>
        <p:nvSpPr>
          <p:cNvPr id="25" name="TextBox 24"/>
          <p:cNvSpPr txBox="1"/>
          <p:nvPr/>
        </p:nvSpPr>
        <p:spPr>
          <a:xfrm>
            <a:off x="6492240" y="4590288"/>
            <a:ext cx="4882896" cy="429768"/>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External AXI4 region at 0x80000000</a:t>
            </a:r>
          </a:p>
        </p:txBody>
      </p:sp>
      <p:sp>
        <p:nvSpPr>
          <p:cNvPr id="26" name="Rectangle 25"/>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External main memory is not on-chip DRAM. ChipTop has no DDR controller or DDR PHY.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SYSTEM SERVICES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Boot, peripherals and external interfaces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The base SoC includes essential control and debug, not every optional Chipyard device.</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09</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CONFIGURATION.md</a:t>
            </a:r>
          </a:p>
        </p:txBody>
      </p:sp>
      <p:sp>
        <p:nvSpPr>
          <p:cNvPr id="10" name="Rectangle 9"/>
          <p:cNvSpPr/>
          <p:nvPr/>
        </p:nvSpPr>
        <p:spPr>
          <a:xfrm>
            <a:off x="603504" y="1847088"/>
            <a:ext cx="3401568" cy="233172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 y="1847088"/>
            <a:ext cx="50292" cy="2331720"/>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65960"/>
            <a:ext cx="312724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087F72"/>
                </a:solidFill>
                <a:latin typeface="DejaVu Sans"/>
              </a:defRPr>
            </a:pPr>
            <a:r>
              <a:t>BOOT + INTERRUPTS</a:t>
            </a:r>
          </a:p>
        </p:txBody>
      </p:sp>
      <p:sp>
        <p:nvSpPr>
          <p:cNvPr id="13" name="TextBox 12"/>
          <p:cNvSpPr txBox="1"/>
          <p:nvPr/>
        </p:nvSpPr>
        <p:spPr>
          <a:xfrm>
            <a:off x="749808" y="2423160"/>
            <a:ext cx="3127248" cy="1682495"/>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Boot ROM / boot selection</a:t>
            </a:r>
          </a:p>
          <a:p>
            <a:pPr algn="l">
              <a:lnSpc>
                <a:spcPct val="110000"/>
              </a:lnSpc>
              <a:spcBef>
                <a:spcPts val="0"/>
              </a:spcBef>
              <a:spcAft>
                <a:spcPts val="500"/>
              </a:spcAft>
              <a:defRPr sz="1600" b="0">
                <a:solidFill>
                  <a:srgbClr val="566469"/>
                </a:solidFill>
                <a:latin typeface="DejaVu Sans"/>
              </a:defRPr>
            </a:pPr>
            <a:r>
              <a:t>CLINT timer + software IRQ</a:t>
            </a:r>
          </a:p>
          <a:p>
            <a:pPr algn="l">
              <a:lnSpc>
                <a:spcPct val="110000"/>
              </a:lnSpc>
              <a:spcBef>
                <a:spcPts val="0"/>
              </a:spcBef>
              <a:spcAft>
                <a:spcPts val="500"/>
              </a:spcAft>
              <a:defRPr sz="1600" b="0">
                <a:solidFill>
                  <a:srgbClr val="566469"/>
                </a:solidFill>
                <a:latin typeface="DejaVu Sans"/>
              </a:defRPr>
            </a:pPr>
            <a:r>
              <a:t>PLIC: UART device interrupt</a:t>
            </a:r>
          </a:p>
        </p:txBody>
      </p:sp>
      <p:sp>
        <p:nvSpPr>
          <p:cNvPr id="14" name="Rectangle 13"/>
          <p:cNvSpPr/>
          <p:nvPr/>
        </p:nvSpPr>
        <p:spPr>
          <a:xfrm>
            <a:off x="4389120" y="1847088"/>
            <a:ext cx="3401568" cy="233172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47088"/>
            <a:ext cx="50292" cy="2331720"/>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1965960"/>
            <a:ext cx="312724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850" b="1">
                <a:solidFill>
                  <a:srgbClr val="3279A3"/>
                </a:solidFill>
                <a:latin typeface="DejaVu Sans"/>
              </a:defRPr>
            </a:pPr>
            <a:r>
              <a:t>EXTERNAL INTERFACES</a:t>
            </a:r>
          </a:p>
        </p:txBody>
      </p:sp>
      <p:sp>
        <p:nvSpPr>
          <p:cNvPr id="17" name="TextBox 16"/>
          <p:cNvSpPr txBox="1"/>
          <p:nvPr/>
        </p:nvSpPr>
        <p:spPr>
          <a:xfrm>
            <a:off x="4535424" y="2423160"/>
            <a:ext cx="3127248" cy="1682495"/>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UART RX/TX and JTAG</a:t>
            </a:r>
          </a:p>
          <a:p>
            <a:pPr algn="l">
              <a:lnSpc>
                <a:spcPct val="110000"/>
              </a:lnSpc>
              <a:spcBef>
                <a:spcPts val="0"/>
              </a:spcBef>
              <a:spcAft>
                <a:spcPts val="500"/>
              </a:spcAft>
              <a:defRPr sz="1600" b="0">
                <a:solidFill>
                  <a:srgbClr val="566469"/>
                </a:solidFill>
                <a:latin typeface="DejaVu Sans"/>
              </a:defRPr>
            </a:pPr>
            <a:r>
              <a:t>AXI4 external memory</a:t>
            </a:r>
          </a:p>
          <a:p>
            <a:pPr algn="l">
              <a:lnSpc>
                <a:spcPct val="110000"/>
              </a:lnSpc>
              <a:spcBef>
                <a:spcPts val="0"/>
              </a:spcBef>
              <a:spcAft>
                <a:spcPts val="500"/>
              </a:spcAft>
              <a:defRPr sz="1600" b="0">
                <a:solidFill>
                  <a:srgbClr val="566469"/>
                </a:solidFill>
                <a:latin typeface="DejaVu Sans"/>
              </a:defRPr>
            </a:pPr>
            <a:r>
              <a:t>Serial TileLink; clocks/reset</a:t>
            </a:r>
          </a:p>
        </p:txBody>
      </p:sp>
      <p:sp>
        <p:nvSpPr>
          <p:cNvPr id="18" name="Rectangle 17"/>
          <p:cNvSpPr/>
          <p:nvPr/>
        </p:nvSpPr>
        <p:spPr>
          <a:xfrm>
            <a:off x="8174736" y="1847088"/>
            <a:ext cx="3401568" cy="233172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1847088"/>
            <a:ext cx="50292" cy="2331720"/>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965960"/>
            <a:ext cx="312724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CE594B"/>
                </a:solidFill>
                <a:latin typeface="DejaVu Sans"/>
              </a:defRPr>
            </a:pPr>
            <a:r>
              <a:t>NOT IN THIS CONFIG</a:t>
            </a:r>
          </a:p>
        </p:txBody>
      </p:sp>
      <p:sp>
        <p:nvSpPr>
          <p:cNvPr id="21" name="TextBox 20"/>
          <p:cNvSpPr txBox="1"/>
          <p:nvPr/>
        </p:nvSpPr>
        <p:spPr>
          <a:xfrm>
            <a:off x="8321040" y="2423160"/>
            <a:ext cx="3127248" cy="1682495"/>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FFT / RoCC / vector unit</a:t>
            </a:r>
          </a:p>
          <a:p>
            <a:pPr algn="l">
              <a:lnSpc>
                <a:spcPct val="110000"/>
              </a:lnSpc>
              <a:spcBef>
                <a:spcPts val="0"/>
              </a:spcBef>
              <a:spcAft>
                <a:spcPts val="500"/>
              </a:spcAft>
              <a:defRPr sz="1600" b="0">
                <a:solidFill>
                  <a:srgbClr val="566469"/>
                </a:solidFill>
                <a:latin typeface="DejaVu Sans"/>
              </a:defRPr>
            </a:pPr>
            <a:r>
              <a:t>GPIO, I2C, SPI flash</a:t>
            </a:r>
          </a:p>
          <a:p>
            <a:pPr algn="l">
              <a:lnSpc>
                <a:spcPct val="110000"/>
              </a:lnSpc>
              <a:spcBef>
                <a:spcPts val="0"/>
              </a:spcBef>
              <a:spcAft>
                <a:spcPts val="500"/>
              </a:spcAft>
              <a:defRPr sz="1600" b="0">
                <a:solidFill>
                  <a:srgbClr val="566469"/>
                </a:solidFill>
                <a:latin typeface="DejaVu Sans"/>
              </a:defRPr>
            </a:pPr>
            <a:r>
              <a:t>Ethernet or DDR controller</a:t>
            </a:r>
          </a:p>
        </p:txBody>
      </p:sp>
      <p:sp>
        <p:nvSpPr>
          <p:cNvPr id="22" name="TextBox 21"/>
          <p:cNvSpPr txBox="1"/>
          <p:nvPr/>
        </p:nvSpPr>
        <p:spPr>
          <a:xfrm>
            <a:off x="621792" y="4572000"/>
            <a:ext cx="3721608" cy="457200"/>
          </a:xfrm>
          <a:prstGeom prst="rect">
            <a:avLst/>
          </a:prstGeom>
          <a:noFill/>
        </p:spPr>
        <p:txBody>
          <a:bodyPr wrap="square" lIns="9144" rIns="9144" tIns="13716" bIns="13716" anchor="t">
            <a:spAutoFit/>
          </a:bodyPr>
          <a:lstStyle/>
          <a:p>
            <a:pPr algn="l">
              <a:lnSpc>
                <a:spcPct val="110000"/>
              </a:lnSpc>
              <a:spcBef>
                <a:spcPts val="0"/>
              </a:spcBef>
              <a:spcAft>
                <a:spcPts val="500"/>
              </a:spcAft>
              <a:defRPr sz="2600" b="1">
                <a:solidFill>
                  <a:srgbClr val="CE594B"/>
                </a:solidFill>
                <a:latin typeface="DejaVu Sans"/>
              </a:defRPr>
            </a:pPr>
            <a:r>
              <a:t>Do we have FFT?</a:t>
            </a:r>
          </a:p>
        </p:txBody>
      </p:sp>
      <p:sp>
        <p:nvSpPr>
          <p:cNvPr id="23" name="TextBox 22"/>
          <p:cNvSpPr txBox="1"/>
          <p:nvPr/>
        </p:nvSpPr>
        <p:spPr>
          <a:xfrm>
            <a:off x="4389120" y="4562856"/>
            <a:ext cx="7187184" cy="914400"/>
          </a:xfrm>
          <a:prstGeom prst="rect">
            <a:avLst/>
          </a:prstGeom>
          <a:noFill/>
        </p:spPr>
        <p:txBody>
          <a:bodyPr wrap="square" lIns="9144" rIns="9144" tIns="13716" bIns="13716" anchor="t">
            <a:spAutoFit/>
          </a:bodyPr>
          <a:lstStyle/>
          <a:p>
            <a:pPr algn="l">
              <a:lnSpc>
                <a:spcPct val="110000"/>
              </a:lnSpc>
              <a:spcBef>
                <a:spcPts val="0"/>
              </a:spcBef>
              <a:spcAft>
                <a:spcPts val="500"/>
              </a:spcAft>
              <a:defRPr sz="1650" b="0">
                <a:solidFill>
                  <a:srgbClr val="20292D"/>
                </a:solidFill>
                <a:latin typeface="DejaVu Sans"/>
              </a:defRPr>
            </a:pPr>
            <a:r>
              <a:t>No dedicated FFT hardware. A Rocket CPU can execute FFT software;</a:t>
            </a:r>
          </a:p>
          <a:p>
            <a:pPr algn="l">
              <a:lnSpc>
                <a:spcPct val="110000"/>
              </a:lnSpc>
              <a:spcBef>
                <a:spcPts val="0"/>
              </a:spcBef>
              <a:spcAft>
                <a:spcPts val="500"/>
              </a:spcAft>
              <a:defRPr sz="1650" b="0">
                <a:solidFill>
                  <a:srgbClr val="20292D"/>
                </a:solidFill>
                <a:latin typeface="DejaVu Sans"/>
              </a:defRPr>
            </a:pPr>
            <a:r>
              <a:t>an FFT accelerator needs a new integration and its own verification.</a:t>
            </a:r>
          </a:p>
        </p:txBody>
      </p:sp>
      <p:sp>
        <p:nvSpPr>
          <p:cNvPr id="24" name="Rectangle 23"/>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Optional generator code in Chipyard does not mean that block exists in this generated SoC.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MEMORY MAP</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Key software-visible address regions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Addresses come from the emitted memory map and device tree.</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10</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artifacts/chipyard.harness.TestHarness.DualRocketConfig.memmap.json</a:t>
            </a:r>
          </a:p>
        </p:txBody>
      </p:sp>
      <p:sp>
        <p:nvSpPr>
          <p:cNvPr id="10" name="Rectangle 9"/>
          <p:cNvSpPr/>
          <p:nvPr/>
        </p:nvSpPr>
        <p:spPr>
          <a:xfrm>
            <a:off x="594360" y="1810512"/>
            <a:ext cx="11009376" cy="402336"/>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01952"/>
            <a:ext cx="2724912"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FFFFFF"/>
                </a:solidFill>
                <a:latin typeface="DejaVu Sans"/>
              </a:defRPr>
            </a:pPr>
            <a:r>
              <a:t>BASE ADDRESS</a:t>
            </a:r>
          </a:p>
        </p:txBody>
      </p:sp>
      <p:sp>
        <p:nvSpPr>
          <p:cNvPr id="12" name="TextBox 11"/>
          <p:cNvSpPr txBox="1"/>
          <p:nvPr/>
        </p:nvSpPr>
        <p:spPr>
          <a:xfrm>
            <a:off x="3630168" y="1901952"/>
            <a:ext cx="1627632"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FFFFFF"/>
                </a:solidFill>
                <a:latin typeface="DejaVu Sans"/>
              </a:defRPr>
            </a:pPr>
            <a:r>
              <a:t>WINDOW</a:t>
            </a:r>
          </a:p>
        </p:txBody>
      </p:sp>
      <p:sp>
        <p:nvSpPr>
          <p:cNvPr id="13" name="TextBox 12"/>
          <p:cNvSpPr txBox="1"/>
          <p:nvPr/>
        </p:nvSpPr>
        <p:spPr>
          <a:xfrm>
            <a:off x="5458968" y="1901952"/>
            <a:ext cx="6053328" cy="292608"/>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FFFFFF"/>
                </a:solidFill>
                <a:latin typeface="DejaVu Sans"/>
              </a:defRPr>
            </a:pPr>
            <a:r>
              <a:t>RESOURCE / PURPOSE</a:t>
            </a:r>
          </a:p>
        </p:txBody>
      </p:sp>
      <p:sp>
        <p:nvSpPr>
          <p:cNvPr id="14" name="Rectangle 13"/>
          <p:cNvSpPr/>
          <p:nvPr/>
        </p:nvSpPr>
        <p:spPr>
          <a:xfrm>
            <a:off x="594360" y="2212848"/>
            <a:ext cx="1100937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295144"/>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0x00000000</a:t>
            </a:r>
          </a:p>
        </p:txBody>
      </p:sp>
      <p:sp>
        <p:nvSpPr>
          <p:cNvPr id="16" name="TextBox 15"/>
          <p:cNvSpPr txBox="1"/>
          <p:nvPr/>
        </p:nvSpPr>
        <p:spPr>
          <a:xfrm>
            <a:off x="3630168" y="2295144"/>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4 KiB</a:t>
            </a:r>
          </a:p>
        </p:txBody>
      </p:sp>
      <p:sp>
        <p:nvSpPr>
          <p:cNvPr id="17" name="TextBox 16"/>
          <p:cNvSpPr txBox="1"/>
          <p:nvPr/>
        </p:nvSpPr>
        <p:spPr>
          <a:xfrm>
            <a:off x="5458968" y="2295144"/>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Debug module</a:t>
            </a:r>
          </a:p>
        </p:txBody>
      </p:sp>
      <p:sp>
        <p:nvSpPr>
          <p:cNvPr id="18" name="Rectangle 17"/>
          <p:cNvSpPr/>
          <p:nvPr/>
        </p:nvSpPr>
        <p:spPr>
          <a:xfrm>
            <a:off x="594360" y="2615184"/>
            <a:ext cx="11009376" cy="40233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2697479"/>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0x00010000</a:t>
            </a:r>
          </a:p>
        </p:txBody>
      </p:sp>
      <p:sp>
        <p:nvSpPr>
          <p:cNvPr id="20" name="TextBox 19"/>
          <p:cNvSpPr txBox="1"/>
          <p:nvPr/>
        </p:nvSpPr>
        <p:spPr>
          <a:xfrm>
            <a:off x="3630168" y="2697479"/>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64 KiB</a:t>
            </a:r>
          </a:p>
        </p:txBody>
      </p:sp>
      <p:sp>
        <p:nvSpPr>
          <p:cNvPr id="21" name="TextBox 20"/>
          <p:cNvSpPr txBox="1"/>
          <p:nvPr/>
        </p:nvSpPr>
        <p:spPr>
          <a:xfrm>
            <a:off x="5458968" y="2697479"/>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Boot ROM address window</a:t>
            </a:r>
          </a:p>
        </p:txBody>
      </p:sp>
      <p:sp>
        <p:nvSpPr>
          <p:cNvPr id="22" name="Rectangle 21"/>
          <p:cNvSpPr/>
          <p:nvPr/>
        </p:nvSpPr>
        <p:spPr>
          <a:xfrm>
            <a:off x="594360" y="3017520"/>
            <a:ext cx="1100937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099815"/>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0x02000000</a:t>
            </a:r>
          </a:p>
        </p:txBody>
      </p:sp>
      <p:sp>
        <p:nvSpPr>
          <p:cNvPr id="24" name="TextBox 23"/>
          <p:cNvSpPr txBox="1"/>
          <p:nvPr/>
        </p:nvSpPr>
        <p:spPr>
          <a:xfrm>
            <a:off x="3630168" y="3099815"/>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64 KiB</a:t>
            </a:r>
          </a:p>
        </p:txBody>
      </p:sp>
      <p:sp>
        <p:nvSpPr>
          <p:cNvPr id="25" name="TextBox 24"/>
          <p:cNvSpPr txBox="1"/>
          <p:nvPr/>
        </p:nvSpPr>
        <p:spPr>
          <a:xfrm>
            <a:off x="5458968" y="3099815"/>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CLINT: timer / software interrupts</a:t>
            </a:r>
          </a:p>
        </p:txBody>
      </p:sp>
      <p:sp>
        <p:nvSpPr>
          <p:cNvPr id="26" name="Rectangle 25"/>
          <p:cNvSpPr/>
          <p:nvPr/>
        </p:nvSpPr>
        <p:spPr>
          <a:xfrm>
            <a:off x="594360" y="3419856"/>
            <a:ext cx="11009376" cy="40233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502152"/>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0x02010000</a:t>
            </a:r>
          </a:p>
        </p:txBody>
      </p:sp>
      <p:sp>
        <p:nvSpPr>
          <p:cNvPr id="28" name="TextBox 27"/>
          <p:cNvSpPr txBox="1"/>
          <p:nvPr/>
        </p:nvSpPr>
        <p:spPr>
          <a:xfrm>
            <a:off x="3630168" y="3502152"/>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4 KiB</a:t>
            </a:r>
          </a:p>
        </p:txBody>
      </p:sp>
      <p:sp>
        <p:nvSpPr>
          <p:cNvPr id="29" name="TextBox 28"/>
          <p:cNvSpPr txBox="1"/>
          <p:nvPr/>
        </p:nvSpPr>
        <p:spPr>
          <a:xfrm>
            <a:off x="5458968" y="3502152"/>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Shared L2 control registers</a:t>
            </a:r>
          </a:p>
        </p:txBody>
      </p:sp>
      <p:sp>
        <p:nvSpPr>
          <p:cNvPr id="30" name="Rectangle 29"/>
          <p:cNvSpPr/>
          <p:nvPr/>
        </p:nvSpPr>
        <p:spPr>
          <a:xfrm>
            <a:off x="594360" y="3822191"/>
            <a:ext cx="1100937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3904487"/>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0x08000000</a:t>
            </a:r>
          </a:p>
        </p:txBody>
      </p:sp>
      <p:sp>
        <p:nvSpPr>
          <p:cNvPr id="32" name="TextBox 31"/>
          <p:cNvSpPr txBox="1"/>
          <p:nvPr/>
        </p:nvSpPr>
        <p:spPr>
          <a:xfrm>
            <a:off x="3630168" y="3904487"/>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64 KiB</a:t>
            </a:r>
          </a:p>
        </p:txBody>
      </p:sp>
      <p:sp>
        <p:nvSpPr>
          <p:cNvPr id="33" name="TextBox 32"/>
          <p:cNvSpPr txBox="1"/>
          <p:nvPr/>
        </p:nvSpPr>
        <p:spPr>
          <a:xfrm>
            <a:off x="5458968" y="3904487"/>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On-chip scratchpad</a:t>
            </a:r>
          </a:p>
        </p:txBody>
      </p:sp>
      <p:sp>
        <p:nvSpPr>
          <p:cNvPr id="34" name="Rectangle 33"/>
          <p:cNvSpPr/>
          <p:nvPr/>
        </p:nvSpPr>
        <p:spPr>
          <a:xfrm>
            <a:off x="594360" y="4224528"/>
            <a:ext cx="11009376" cy="40233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4306824"/>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0x0c000000</a:t>
            </a:r>
          </a:p>
        </p:txBody>
      </p:sp>
      <p:sp>
        <p:nvSpPr>
          <p:cNvPr id="36" name="TextBox 35"/>
          <p:cNvSpPr txBox="1"/>
          <p:nvPr/>
        </p:nvSpPr>
        <p:spPr>
          <a:xfrm>
            <a:off x="3630168" y="4306824"/>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64 MiB</a:t>
            </a:r>
          </a:p>
        </p:txBody>
      </p:sp>
      <p:sp>
        <p:nvSpPr>
          <p:cNvPr id="37" name="TextBox 36"/>
          <p:cNvSpPr txBox="1"/>
          <p:nvPr/>
        </p:nvSpPr>
        <p:spPr>
          <a:xfrm>
            <a:off x="5458968" y="4306824"/>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PLIC register aperture</a:t>
            </a:r>
          </a:p>
        </p:txBody>
      </p:sp>
      <p:sp>
        <p:nvSpPr>
          <p:cNvPr id="38" name="Rectangle 37"/>
          <p:cNvSpPr/>
          <p:nvPr/>
        </p:nvSpPr>
        <p:spPr>
          <a:xfrm>
            <a:off x="594360" y="4626864"/>
            <a:ext cx="1100937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4709160"/>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0x10020000</a:t>
            </a:r>
          </a:p>
        </p:txBody>
      </p:sp>
      <p:sp>
        <p:nvSpPr>
          <p:cNvPr id="40" name="TextBox 39"/>
          <p:cNvSpPr txBox="1"/>
          <p:nvPr/>
        </p:nvSpPr>
        <p:spPr>
          <a:xfrm>
            <a:off x="3630168" y="4709160"/>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4 KiB</a:t>
            </a:r>
          </a:p>
        </p:txBody>
      </p:sp>
      <p:sp>
        <p:nvSpPr>
          <p:cNvPr id="41" name="TextBox 40"/>
          <p:cNvSpPr txBox="1"/>
          <p:nvPr/>
        </p:nvSpPr>
        <p:spPr>
          <a:xfrm>
            <a:off x="5458968" y="4709160"/>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UART registers</a:t>
            </a:r>
          </a:p>
        </p:txBody>
      </p:sp>
      <p:sp>
        <p:nvSpPr>
          <p:cNvPr id="42" name="Rectangle 41"/>
          <p:cNvSpPr/>
          <p:nvPr/>
        </p:nvSpPr>
        <p:spPr>
          <a:xfrm>
            <a:off x="594360" y="5029200"/>
            <a:ext cx="11009376" cy="40233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 y="5111496"/>
            <a:ext cx="272491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0x80000000</a:t>
            </a:r>
          </a:p>
        </p:txBody>
      </p:sp>
      <p:sp>
        <p:nvSpPr>
          <p:cNvPr id="44" name="TextBox 43"/>
          <p:cNvSpPr txBox="1"/>
          <p:nvPr/>
        </p:nvSpPr>
        <p:spPr>
          <a:xfrm>
            <a:off x="3630168" y="5111496"/>
            <a:ext cx="1627632"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256 MiB</a:t>
            </a:r>
          </a:p>
        </p:txBody>
      </p:sp>
      <p:sp>
        <p:nvSpPr>
          <p:cNvPr id="45" name="TextBox 44"/>
          <p:cNvSpPr txBox="1"/>
          <p:nvPr/>
        </p:nvSpPr>
        <p:spPr>
          <a:xfrm>
            <a:off x="5458968" y="5111496"/>
            <a:ext cx="6053328"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External main-memory window</a:t>
            </a:r>
          </a:p>
        </p:txBody>
      </p:sp>
      <p:sp>
        <p:nvSpPr>
          <p:cNvPr id="46" name="Rectangle 45"/>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Register-window size is not storage capacity. Full address table is in SOC.md.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MULTICORE BEHAVIOR</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How two cores cooperate</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Separate instruction streams can coordinate through shared memory and atomic operations.</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11</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reports/simulation/README.md</a:t>
            </a:r>
          </a:p>
        </p:txBody>
      </p:sp>
      <p:sp>
        <p:nvSpPr>
          <p:cNvPr id="10" name="Rectangle 9"/>
          <p:cNvSpPr/>
          <p:nvPr/>
        </p:nvSpPr>
        <p:spPr>
          <a:xfrm>
            <a:off x="621792" y="2039112"/>
            <a:ext cx="3200400" cy="150876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2039112"/>
            <a:ext cx="50292" cy="1508760"/>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57984"/>
            <a:ext cx="2926080"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087F72"/>
                </a:solidFill>
                <a:latin typeface="DejaVu Sans"/>
              </a:defRPr>
            </a:pPr>
            <a:r>
              <a:t>HART 0</a:t>
            </a:r>
          </a:p>
        </p:txBody>
      </p:sp>
      <p:sp>
        <p:nvSpPr>
          <p:cNvPr id="13" name="TextBox 12"/>
          <p:cNvSpPr txBox="1"/>
          <p:nvPr/>
        </p:nvSpPr>
        <p:spPr>
          <a:xfrm>
            <a:off x="768096" y="2615184"/>
            <a:ext cx="2926080" cy="859536"/>
          </a:xfrm>
          <a:prstGeom prst="rect">
            <a:avLst/>
          </a:prstGeom>
          <a:noFill/>
        </p:spPr>
        <p:txBody>
          <a:bodyPr wrap="square" lIns="9144" rIns="9144" tIns="13716" bIns="13716" anchor="t">
            <a:spAutoFit/>
          </a:bodyPr>
          <a:lstStyle/>
          <a:p>
            <a:pPr algn="l">
              <a:lnSpc>
                <a:spcPct val="110000"/>
              </a:lnSpc>
              <a:spcBef>
                <a:spcPts val="0"/>
              </a:spcBef>
              <a:spcAft>
                <a:spcPts val="500"/>
              </a:spcAft>
              <a:defRPr sz="1550" b="0">
                <a:solidFill>
                  <a:srgbClr val="566469"/>
                </a:solidFill>
                <a:latin typeface="DejaVu Sans"/>
              </a:defRPr>
            </a:pPr>
            <a:r>
              <a:t>Runs its own software</a:t>
            </a:r>
          </a:p>
          <a:p>
            <a:pPr algn="l">
              <a:lnSpc>
                <a:spcPct val="110000"/>
              </a:lnSpc>
              <a:spcBef>
                <a:spcPts val="0"/>
              </a:spcBef>
              <a:spcAft>
                <a:spcPts val="500"/>
              </a:spcAft>
              <a:defRPr sz="1550" b="0">
                <a:solidFill>
                  <a:srgbClr val="566469"/>
                </a:solidFill>
                <a:latin typeface="DejaVu Sans"/>
              </a:defRPr>
            </a:pPr>
            <a:r>
              <a:t>Publishes / checks shared data</a:t>
            </a:r>
          </a:p>
        </p:txBody>
      </p:sp>
      <p:sp>
        <p:nvSpPr>
          <p:cNvPr id="14" name="Rectangle 13"/>
          <p:cNvSpPr/>
          <p:nvPr/>
        </p:nvSpPr>
        <p:spPr>
          <a:xfrm>
            <a:off x="4498848" y="2039112"/>
            <a:ext cx="3200400" cy="150876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98848" y="2039112"/>
            <a:ext cx="50292" cy="1508760"/>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157984"/>
            <a:ext cx="2926080"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3279A3"/>
                </a:solidFill>
                <a:latin typeface="DejaVu Sans"/>
              </a:defRPr>
            </a:pPr>
            <a:r>
              <a:t>SHARED STATE</a:t>
            </a:r>
          </a:p>
        </p:txBody>
      </p:sp>
      <p:sp>
        <p:nvSpPr>
          <p:cNvPr id="17" name="TextBox 16"/>
          <p:cNvSpPr txBox="1"/>
          <p:nvPr/>
        </p:nvSpPr>
        <p:spPr>
          <a:xfrm>
            <a:off x="4645152" y="2615184"/>
            <a:ext cx="2926080" cy="859536"/>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0">
                <a:solidFill>
                  <a:srgbClr val="566469"/>
                </a:solidFill>
                <a:latin typeface="DejaVu Sans"/>
              </a:defRPr>
            </a:pPr>
            <a:r>
              <a:t>Coherent memory</a:t>
            </a:r>
          </a:p>
          <a:p>
            <a:pPr algn="l">
              <a:lnSpc>
                <a:spcPct val="110000"/>
              </a:lnSpc>
              <a:spcBef>
                <a:spcPts val="0"/>
              </a:spcBef>
              <a:spcAft>
                <a:spcPts val="500"/>
              </a:spcAft>
              <a:defRPr sz="1800" b="0">
                <a:solidFill>
                  <a:srgbClr val="566469"/>
                </a:solidFill>
                <a:latin typeface="DejaVu Sans"/>
              </a:defRPr>
            </a:pPr>
            <a:r>
              <a:t>Atomic counter updates</a:t>
            </a:r>
          </a:p>
        </p:txBody>
      </p:sp>
      <p:sp>
        <p:nvSpPr>
          <p:cNvPr id="18" name="Rectangle 17"/>
          <p:cNvSpPr/>
          <p:nvPr/>
        </p:nvSpPr>
        <p:spPr>
          <a:xfrm>
            <a:off x="8375904" y="2039112"/>
            <a:ext cx="3200400" cy="1508760"/>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75904" y="2039112"/>
            <a:ext cx="50292" cy="1508760"/>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22208" y="2157984"/>
            <a:ext cx="2926080"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087F72"/>
                </a:solidFill>
                <a:latin typeface="DejaVu Sans"/>
              </a:defRPr>
            </a:pPr>
            <a:r>
              <a:t>HART 1</a:t>
            </a:r>
          </a:p>
        </p:txBody>
      </p:sp>
      <p:sp>
        <p:nvSpPr>
          <p:cNvPr id="21" name="TextBox 20"/>
          <p:cNvSpPr txBox="1"/>
          <p:nvPr/>
        </p:nvSpPr>
        <p:spPr>
          <a:xfrm>
            <a:off x="8522208" y="2615184"/>
            <a:ext cx="2926080" cy="85953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Runs its own software</a:t>
            </a:r>
          </a:p>
          <a:p>
            <a:pPr algn="l">
              <a:lnSpc>
                <a:spcPct val="110000"/>
              </a:lnSpc>
              <a:spcBef>
                <a:spcPts val="0"/>
              </a:spcBef>
              <a:spcAft>
                <a:spcPts val="500"/>
              </a:spcAft>
              <a:defRPr sz="1600" b="0">
                <a:solidFill>
                  <a:srgbClr val="566469"/>
                </a:solidFill>
                <a:latin typeface="DejaVu Sans"/>
              </a:defRPr>
            </a:pPr>
            <a:r>
              <a:t>Publishes / checks peer data</a:t>
            </a:r>
          </a:p>
        </p:txBody>
      </p:sp>
      <p:cxnSp>
        <p:nvCxnSpPr>
          <p:cNvPr id="22" name="Connector 21"/>
          <p:cNvCxnSpPr/>
          <p:nvPr/>
        </p:nvCxnSpPr>
        <p:spPr>
          <a:xfrm>
            <a:off x="3849624" y="2816352"/>
            <a:ext cx="548640" cy="0"/>
          </a:xfrm>
          <a:prstGeom prst="line">
            <a:avLst/>
          </a:prstGeom>
          <a:ln w="29209">
            <a:solidFill>
              <a:srgbClr val="087F7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799831" y="2816352"/>
            <a:ext cx="539496" cy="0"/>
          </a:xfrm>
          <a:prstGeom prst="line">
            <a:avLst/>
          </a:prstGeom>
          <a:ln w="29209">
            <a:solidFill>
              <a:srgbClr val="087F7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4050791"/>
            <a:ext cx="347472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2 harts</a:t>
            </a:r>
          </a:p>
        </p:txBody>
      </p:sp>
      <p:sp>
        <p:nvSpPr>
          <p:cNvPr id="25" name="TextBox 24"/>
          <p:cNvSpPr txBox="1"/>
          <p:nvPr/>
        </p:nvSpPr>
        <p:spPr>
          <a:xfrm>
            <a:off x="658368" y="4864607"/>
            <a:ext cx="3474720"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required by explicit smoke</a:t>
            </a:r>
          </a:p>
        </p:txBody>
      </p:sp>
      <p:sp>
        <p:nvSpPr>
          <p:cNvPr id="26" name="TextBox 25"/>
          <p:cNvSpPr txBox="1"/>
          <p:nvPr/>
        </p:nvSpPr>
        <p:spPr>
          <a:xfrm>
            <a:off x="4517136" y="4050791"/>
            <a:ext cx="347472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3279A3"/>
                </a:solidFill>
                <a:latin typeface="DejaVu Sans"/>
              </a:defRPr>
            </a:pPr>
            <a:r>
              <a:t>256</a:t>
            </a:r>
          </a:p>
        </p:txBody>
      </p:sp>
      <p:sp>
        <p:nvSpPr>
          <p:cNvPr id="27" name="TextBox 26"/>
          <p:cNvSpPr txBox="1"/>
          <p:nvPr/>
        </p:nvSpPr>
        <p:spPr>
          <a:xfrm>
            <a:off x="4517136" y="4864607"/>
            <a:ext cx="3474720"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total atomic increments</a:t>
            </a:r>
          </a:p>
        </p:txBody>
      </p:sp>
      <p:sp>
        <p:nvSpPr>
          <p:cNvPr id="28" name="TextBox 27"/>
          <p:cNvSpPr txBox="1"/>
          <p:nvPr/>
        </p:nvSpPr>
        <p:spPr>
          <a:xfrm>
            <a:off x="8403336" y="4050791"/>
            <a:ext cx="3182112"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PASS</a:t>
            </a:r>
          </a:p>
        </p:txBody>
      </p:sp>
      <p:sp>
        <p:nvSpPr>
          <p:cNvPr id="29" name="TextBox 28"/>
          <p:cNvSpPr txBox="1"/>
          <p:nvPr/>
        </p:nvSpPr>
        <p:spPr>
          <a:xfrm>
            <a:off x="8403336" y="4864607"/>
            <a:ext cx="3182112"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peer-data visibility checked</a:t>
            </a:r>
          </a:p>
        </p:txBody>
      </p:sp>
      <p:sp>
        <p:nvSpPr>
          <p:cNvPr id="30" name="Rectangle 29"/>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Software must use both harts; two cores do not automatically make every program parallel.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SCOPE</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Hardware boundary vs simulation harness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Full-SoC synthesis means ChipTop, not the whole simulated environment.</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12</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reports/simulation/README.md</a:t>
            </a:r>
          </a:p>
        </p:txBody>
      </p:sp>
      <p:sp>
        <p:nvSpPr>
          <p:cNvPr id="10" name="Rectangle 9"/>
          <p:cNvSpPr/>
          <p:nvPr/>
        </p:nvSpPr>
        <p:spPr>
          <a:xfrm>
            <a:off x="630936" y="1874519"/>
            <a:ext cx="10936224" cy="3319272"/>
          </a:xfrm>
          <a:prstGeom prst="rect">
            <a:avLst/>
          </a:prstGeom>
          <a:solidFill>
            <a:srgbClr val="EBF0E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039112"/>
            <a:ext cx="10405872" cy="365760"/>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566469"/>
                </a:solidFill>
                <a:latin typeface="DejaVu Sans"/>
              </a:defRPr>
            </a:pPr>
            <a:r>
              <a:t>TestDriver / TestHarness: simulation environment</a:t>
            </a:r>
          </a:p>
        </p:txBody>
      </p:sp>
      <p:sp>
        <p:nvSpPr>
          <p:cNvPr id="12" name="Rectangle 11"/>
          <p:cNvSpPr/>
          <p:nvPr/>
        </p:nvSpPr>
        <p:spPr>
          <a:xfrm>
            <a:off x="950976" y="2734056"/>
            <a:ext cx="5102352" cy="2084831"/>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50976" y="2734056"/>
            <a:ext cx="50292" cy="2084831"/>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52928"/>
            <a:ext cx="4828032"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250" b="1">
                <a:solidFill>
                  <a:srgbClr val="087F72"/>
                </a:solidFill>
                <a:latin typeface="DejaVu Sans"/>
              </a:defRPr>
            </a:pPr>
            <a:r>
              <a:t>ChipTop / DigitalTop</a:t>
            </a:r>
          </a:p>
        </p:txBody>
      </p:sp>
      <p:sp>
        <p:nvSpPr>
          <p:cNvPr id="15" name="TextBox 14"/>
          <p:cNvSpPr txBox="1"/>
          <p:nvPr/>
        </p:nvSpPr>
        <p:spPr>
          <a:xfrm>
            <a:off x="1097280" y="3310128"/>
            <a:ext cx="4828032" cy="1435607"/>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566469"/>
                </a:solidFill>
                <a:latin typeface="DejaVu Sans"/>
              </a:defRPr>
            </a:pPr>
            <a:r>
              <a:t>Both Rocket tiles, L1s and L2</a:t>
            </a:r>
          </a:p>
          <a:p>
            <a:pPr algn="l">
              <a:lnSpc>
                <a:spcPct val="110000"/>
              </a:lnSpc>
              <a:spcBef>
                <a:spcPts val="0"/>
              </a:spcBef>
              <a:spcAft>
                <a:spcPts val="500"/>
              </a:spcAft>
              <a:defRPr sz="2000" b="0">
                <a:solidFill>
                  <a:srgbClr val="566469"/>
                </a:solidFill>
                <a:latin typeface="DejaVu Sans"/>
              </a:defRPr>
            </a:pPr>
            <a:r>
              <a:t>Scratchpad, buses and peripherals</a:t>
            </a:r>
          </a:p>
          <a:p>
            <a:pPr algn="l">
              <a:lnSpc>
                <a:spcPct val="110000"/>
              </a:lnSpc>
              <a:spcBef>
                <a:spcPts val="0"/>
              </a:spcBef>
              <a:spcAft>
                <a:spcPts val="500"/>
              </a:spcAft>
              <a:defRPr sz="2000" b="0">
                <a:solidFill>
                  <a:srgbClr val="566469"/>
                </a:solidFill>
                <a:latin typeface="DejaVu Sans"/>
              </a:defRPr>
            </a:pPr>
            <a:r>
              <a:t>Clock/reset logic and I/O cells</a:t>
            </a:r>
          </a:p>
        </p:txBody>
      </p:sp>
      <p:sp>
        <p:nvSpPr>
          <p:cNvPr id="16" name="Rectangle 15"/>
          <p:cNvSpPr/>
          <p:nvPr/>
        </p:nvSpPr>
        <p:spPr>
          <a:xfrm>
            <a:off x="6419088" y="2734056"/>
            <a:ext cx="4818888" cy="2084831"/>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19088" y="2734056"/>
            <a:ext cx="50292" cy="2084831"/>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2852928"/>
            <a:ext cx="4544568"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CE594B"/>
                </a:solidFill>
                <a:latin typeface="DejaVu Sans"/>
              </a:defRPr>
            </a:pPr>
            <a:r>
              <a:t>EXTERNAL TEST MODELS</a:t>
            </a:r>
          </a:p>
        </p:txBody>
      </p:sp>
      <p:sp>
        <p:nvSpPr>
          <p:cNvPr id="19" name="TextBox 18"/>
          <p:cNvSpPr txBox="1"/>
          <p:nvPr/>
        </p:nvSpPr>
        <p:spPr>
          <a:xfrm>
            <a:off x="6565392" y="3310128"/>
            <a:ext cx="4544568" cy="1435607"/>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DRAMSim2 / simulated memory</a:t>
            </a:r>
          </a:p>
          <a:p>
            <a:pPr algn="l">
              <a:lnSpc>
                <a:spcPct val="110000"/>
              </a:lnSpc>
              <a:spcBef>
                <a:spcPts val="0"/>
              </a:spcBef>
              <a:spcAft>
                <a:spcPts val="500"/>
              </a:spcAft>
              <a:defRPr sz="1700" b="0">
                <a:solidFill>
                  <a:srgbClr val="566469"/>
                </a:solidFill>
                <a:latin typeface="DejaVu Sans"/>
              </a:defRPr>
            </a:pPr>
            <a:r>
              <a:t>SimJTAG, serial host, UART output</a:t>
            </a:r>
          </a:p>
          <a:p>
            <a:pPr algn="l">
              <a:lnSpc>
                <a:spcPct val="110000"/>
              </a:lnSpc>
              <a:spcBef>
                <a:spcPts val="0"/>
              </a:spcBef>
              <a:spcAft>
                <a:spcPts val="500"/>
              </a:spcAft>
              <a:defRPr sz="1700" b="0">
                <a:solidFill>
                  <a:srgbClr val="566469"/>
                </a:solidFill>
                <a:latin typeface="DejaVu Sans"/>
              </a:defRPr>
            </a:pPr>
            <a:r>
              <a:t>Test clocks and fast ELF loading</a:t>
            </a:r>
          </a:p>
        </p:txBody>
      </p:sp>
      <p:sp>
        <p:nvSpPr>
          <p:cNvPr id="20" name="Rectangle 19"/>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Synthesis boundary = ChipTop. +loadmem is a simulation shortcut, not fabricated hardware.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VERIFICATION STRATEGY</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Three checks answer different questions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Common source evidence; separate methods, outputs and acceptance boundaries.</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13</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reports/simulation/README.md | reports/lint/README.md</a:t>
            </a:r>
          </a:p>
        </p:txBody>
      </p:sp>
      <p:sp>
        <p:nvSpPr>
          <p:cNvPr id="10" name="Rectangle 9"/>
          <p:cNvSpPr/>
          <p:nvPr/>
        </p:nvSpPr>
        <p:spPr>
          <a:xfrm>
            <a:off x="603504" y="1901952"/>
            <a:ext cx="3401568" cy="321868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 y="1901952"/>
            <a:ext cx="3401568"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67128"/>
            <a:ext cx="3054096"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50" b="1">
                <a:solidFill>
                  <a:srgbClr val="087F72"/>
                </a:solidFill>
                <a:latin typeface="DejaVu Sans"/>
              </a:defRPr>
            </a:pPr>
            <a:r>
              <a:t>SIMULATION</a:t>
            </a:r>
          </a:p>
        </p:txBody>
      </p:sp>
      <p:sp>
        <p:nvSpPr>
          <p:cNvPr id="13" name="TextBox 12"/>
          <p:cNvSpPr txBox="1"/>
          <p:nvPr/>
        </p:nvSpPr>
        <p:spPr>
          <a:xfrm>
            <a:off x="777240" y="2807208"/>
            <a:ext cx="3054096" cy="71323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20292D"/>
                </a:solidFill>
                <a:latin typeface="DejaVu Sans"/>
              </a:defRPr>
            </a:pPr>
            <a:r>
              <a:t>Does this test execute?</a:t>
            </a:r>
          </a:p>
        </p:txBody>
      </p:sp>
      <p:sp>
        <p:nvSpPr>
          <p:cNvPr id="14" name="TextBox 13"/>
          <p:cNvSpPr txBox="1"/>
          <p:nvPr/>
        </p:nvSpPr>
        <p:spPr>
          <a:xfrm>
            <a:off x="777240" y="3776472"/>
            <a:ext cx="3054096" cy="1115568"/>
          </a:xfrm>
          <a:prstGeom prst="rect">
            <a:avLst/>
          </a:prstGeom>
          <a:noFill/>
        </p:spPr>
        <p:txBody>
          <a:bodyPr wrap="square" lIns="9144" rIns="9144" tIns="13716" bIns="13716" anchor="t">
            <a:spAutoFit/>
          </a:bodyPr>
          <a:lstStyle/>
          <a:p>
            <a:pPr algn="l">
              <a:lnSpc>
                <a:spcPct val="110000"/>
              </a:lnSpc>
              <a:spcBef>
                <a:spcPts val="0"/>
              </a:spcBef>
              <a:spcAft>
                <a:spcPts val="500"/>
              </a:spcAft>
              <a:defRPr sz="1450" b="0">
                <a:solidFill>
                  <a:srgbClr val="566469"/>
                </a:solidFill>
                <a:latin typeface="DejaVu Sans"/>
              </a:defRPr>
            </a:pPr>
            <a:r>
              <a:t>Verilator + DRAMSim2</a:t>
            </a:r>
          </a:p>
          <a:p>
            <a:pPr algn="l">
              <a:lnSpc>
                <a:spcPct val="110000"/>
              </a:lnSpc>
              <a:spcBef>
                <a:spcPts val="0"/>
              </a:spcBef>
              <a:spcAft>
                <a:spcPts val="500"/>
              </a:spcAft>
              <a:defRPr sz="1450" b="0">
                <a:solidFill>
                  <a:srgbClr val="566469"/>
                </a:solidFill>
                <a:latin typeface="DejaVu Sans"/>
              </a:defRPr>
            </a:pPr>
            <a:r>
              <a:t>RISC-V programs and multicore tests</a:t>
            </a:r>
          </a:p>
          <a:p>
            <a:pPr algn="l">
              <a:lnSpc>
                <a:spcPct val="110000"/>
              </a:lnSpc>
              <a:spcBef>
                <a:spcPts val="0"/>
              </a:spcBef>
              <a:spcAft>
                <a:spcPts val="500"/>
              </a:spcAft>
              <a:defRPr sz="1450" b="0">
                <a:solidFill>
                  <a:srgbClr val="566469"/>
                </a:solidFill>
                <a:latin typeface="DejaVu Sans"/>
              </a:defRPr>
            </a:pPr>
            <a:r>
              <a:t>Reference checks with Spike</a:t>
            </a:r>
          </a:p>
        </p:txBody>
      </p:sp>
      <p:sp>
        <p:nvSpPr>
          <p:cNvPr id="15" name="Rectangle 14"/>
          <p:cNvSpPr/>
          <p:nvPr/>
        </p:nvSpPr>
        <p:spPr>
          <a:xfrm>
            <a:off x="4389120" y="1901952"/>
            <a:ext cx="3401568" cy="321868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1901952"/>
            <a:ext cx="3401568" cy="73152"/>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6" y="2167128"/>
            <a:ext cx="3054096"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50" b="1">
                <a:solidFill>
                  <a:srgbClr val="3279A3"/>
                </a:solidFill>
                <a:latin typeface="DejaVu Sans"/>
              </a:defRPr>
            </a:pPr>
            <a:r>
              <a:t>LINT</a:t>
            </a:r>
          </a:p>
        </p:txBody>
      </p:sp>
      <p:sp>
        <p:nvSpPr>
          <p:cNvPr id="18" name="TextBox 17"/>
          <p:cNvSpPr txBox="1"/>
          <p:nvPr/>
        </p:nvSpPr>
        <p:spPr>
          <a:xfrm>
            <a:off x="4562856" y="2807208"/>
            <a:ext cx="3054096" cy="71323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20292D"/>
                </a:solidFill>
                <a:latin typeface="DejaVu Sans"/>
              </a:defRPr>
            </a:pPr>
            <a:r>
              <a:t>What does static analysis flag?</a:t>
            </a:r>
          </a:p>
        </p:txBody>
      </p:sp>
      <p:sp>
        <p:nvSpPr>
          <p:cNvPr id="19" name="TextBox 18"/>
          <p:cNvSpPr txBox="1"/>
          <p:nvPr/>
        </p:nvSpPr>
        <p:spPr>
          <a:xfrm>
            <a:off x="4562856" y="3776472"/>
            <a:ext cx="3054096" cy="1115568"/>
          </a:xfrm>
          <a:prstGeom prst="rect">
            <a:avLst/>
          </a:prstGeom>
          <a:noFill/>
        </p:spPr>
        <p:txBody>
          <a:bodyPr wrap="square" lIns="9144" rIns="9144" tIns="13716" bIns="13716" anchor="t">
            <a:spAutoFit/>
          </a:bodyPr>
          <a:lstStyle/>
          <a:p>
            <a:pPr algn="l">
              <a:lnSpc>
                <a:spcPct val="110000"/>
              </a:lnSpc>
              <a:spcBef>
                <a:spcPts val="0"/>
              </a:spcBef>
              <a:spcAft>
                <a:spcPts val="500"/>
              </a:spcAft>
              <a:defRPr sz="1450" b="0">
                <a:solidFill>
                  <a:srgbClr val="566469"/>
                </a:solidFill>
                <a:latin typeface="DejaVu Sans"/>
              </a:defRPr>
            </a:pPr>
            <a:r>
              <a:t>Verilator + slang</a:t>
            </a:r>
          </a:p>
          <a:p>
            <a:pPr algn="l">
              <a:lnSpc>
                <a:spcPct val="110000"/>
              </a:lnSpc>
              <a:spcBef>
                <a:spcPts val="0"/>
              </a:spcBef>
              <a:spcAft>
                <a:spcPts val="500"/>
              </a:spcAft>
              <a:defRPr sz="1450" b="0">
                <a:solidFill>
                  <a:srgbClr val="566469"/>
                </a:solidFill>
                <a:latin typeface="DejaVu Sans"/>
              </a:defRPr>
            </a:pPr>
            <a:r>
              <a:t>Full-ChipTop diagnostics</a:t>
            </a:r>
          </a:p>
          <a:p>
            <a:pPr algn="l">
              <a:lnSpc>
                <a:spcPct val="110000"/>
              </a:lnSpc>
              <a:spcBef>
                <a:spcPts val="0"/>
              </a:spcBef>
              <a:spcAft>
                <a:spcPts val="500"/>
              </a:spcAft>
              <a:defRPr sz="1450" b="0">
                <a:solidFill>
                  <a:srgbClr val="566469"/>
                </a:solidFill>
                <a:latin typeface="DejaVu Sans"/>
              </a:defRPr>
            </a:pPr>
            <a:r>
              <a:t>Warning baseline and source checks</a:t>
            </a:r>
          </a:p>
        </p:txBody>
      </p:sp>
      <p:sp>
        <p:nvSpPr>
          <p:cNvPr id="20" name="Rectangle 19"/>
          <p:cNvSpPr/>
          <p:nvPr/>
        </p:nvSpPr>
        <p:spPr>
          <a:xfrm>
            <a:off x="8174736" y="1901952"/>
            <a:ext cx="3401568" cy="321868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74736" y="1901952"/>
            <a:ext cx="3401568" cy="73152"/>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48471" y="2167128"/>
            <a:ext cx="3054096"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50" b="1">
                <a:solidFill>
                  <a:srgbClr val="CE594B"/>
                </a:solidFill>
                <a:latin typeface="DejaVu Sans"/>
              </a:defRPr>
            </a:pPr>
            <a:r>
              <a:t>SYNTHESIS</a:t>
            </a:r>
          </a:p>
        </p:txBody>
      </p:sp>
      <p:sp>
        <p:nvSpPr>
          <p:cNvPr id="23" name="TextBox 22"/>
          <p:cNvSpPr txBox="1"/>
          <p:nvPr/>
        </p:nvSpPr>
        <p:spPr>
          <a:xfrm>
            <a:off x="8348471" y="2807208"/>
            <a:ext cx="3054096" cy="71323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20292D"/>
                </a:solidFill>
                <a:latin typeface="DejaVu Sans"/>
              </a:defRPr>
            </a:pPr>
            <a:r>
              <a:t>Can the design be mapped?</a:t>
            </a:r>
          </a:p>
        </p:txBody>
      </p:sp>
      <p:sp>
        <p:nvSpPr>
          <p:cNvPr id="24" name="TextBox 23"/>
          <p:cNvSpPr txBox="1"/>
          <p:nvPr/>
        </p:nvSpPr>
        <p:spPr>
          <a:xfrm>
            <a:off x="8348471" y="3776472"/>
            <a:ext cx="3054096" cy="1115568"/>
          </a:xfrm>
          <a:prstGeom prst="rect">
            <a:avLst/>
          </a:prstGeom>
          <a:noFill/>
        </p:spPr>
        <p:txBody>
          <a:bodyPr wrap="square" lIns="9144" rIns="9144" tIns="13716" bIns="13716" anchor="t">
            <a:spAutoFit/>
          </a:bodyPr>
          <a:lstStyle/>
          <a:p>
            <a:pPr algn="l">
              <a:lnSpc>
                <a:spcPct val="110000"/>
              </a:lnSpc>
              <a:spcBef>
                <a:spcPts val="0"/>
              </a:spcBef>
              <a:spcAft>
                <a:spcPts val="500"/>
              </a:spcAft>
              <a:defRPr sz="1650" b="0">
                <a:solidFill>
                  <a:srgbClr val="566469"/>
                </a:solidFill>
                <a:latin typeface="DejaVu Sans"/>
              </a:defRPr>
            </a:pPr>
            <a:r>
              <a:t>Yosys / slang + ABC</a:t>
            </a:r>
          </a:p>
          <a:p>
            <a:pPr algn="l">
              <a:lnSpc>
                <a:spcPct val="110000"/>
              </a:lnSpc>
              <a:spcBef>
                <a:spcPts val="0"/>
              </a:spcBef>
              <a:spcAft>
                <a:spcPts val="500"/>
              </a:spcAft>
              <a:defRPr sz="1650" b="0">
                <a:solidFill>
                  <a:srgbClr val="566469"/>
                </a:solidFill>
                <a:latin typeface="DejaVu Sans"/>
              </a:defRPr>
            </a:pPr>
            <a:r>
              <a:t>SRAM adapters and libraries</a:t>
            </a:r>
          </a:p>
          <a:p>
            <a:pPr algn="l">
              <a:lnSpc>
                <a:spcPct val="110000"/>
              </a:lnSpc>
              <a:spcBef>
                <a:spcPts val="0"/>
              </a:spcBef>
              <a:spcAft>
                <a:spcPts val="500"/>
              </a:spcAft>
              <a:defRPr sz="1650" b="0">
                <a:solidFill>
                  <a:srgbClr val="566469"/>
                </a:solidFill>
                <a:latin typeface="DejaVu Sans"/>
              </a:defRPr>
            </a:pPr>
            <a:r>
              <a:t>OpenROAD netlist linking</a:t>
            </a:r>
          </a:p>
        </p:txBody>
      </p:sp>
      <p:sp>
        <p:nvSpPr>
          <p:cNvPr id="25" name="Rectangle 24"/>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087F72"/>
                </a:solidFill>
                <a:latin typeface="DejaVu Sans"/>
              </a:defRPr>
            </a:pPr>
            <a:r>
              <a:t>All three are useful. None alone establishes functional completeness or manufacturing readiness.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RESULTS | SIMULATION</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Simulation: configured tests passed</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Recorded full-SoC RTL campaign, completed 06 September 2026. Not rerun for this deck.</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14</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reports/simulation/README.md | reports/simulation/summary.json</a:t>
            </a:r>
          </a:p>
        </p:txBody>
      </p:sp>
      <p:sp>
        <p:nvSpPr>
          <p:cNvPr id="10" name="TextBox 9"/>
          <p:cNvSpPr txBox="1"/>
          <p:nvPr/>
        </p:nvSpPr>
        <p:spPr>
          <a:xfrm>
            <a:off x="640080" y="1828800"/>
            <a:ext cx="393192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335 / 335</a:t>
            </a:r>
          </a:p>
        </p:txBody>
      </p:sp>
      <p:sp>
        <p:nvSpPr>
          <p:cNvPr id="11" name="TextBox 10"/>
          <p:cNvSpPr txBox="1"/>
          <p:nvPr/>
        </p:nvSpPr>
        <p:spPr>
          <a:xfrm>
            <a:off x="640080" y="2642616"/>
            <a:ext cx="3931920"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configured ISA tests</a:t>
            </a:r>
          </a:p>
        </p:txBody>
      </p:sp>
      <p:sp>
        <p:nvSpPr>
          <p:cNvPr id="12" name="TextBox 11"/>
          <p:cNvSpPr txBox="1"/>
          <p:nvPr/>
        </p:nvSpPr>
        <p:spPr>
          <a:xfrm>
            <a:off x="4645152" y="1828800"/>
            <a:ext cx="393192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12 / 12</a:t>
            </a:r>
          </a:p>
        </p:txBody>
      </p:sp>
      <p:sp>
        <p:nvSpPr>
          <p:cNvPr id="13" name="TextBox 12"/>
          <p:cNvSpPr txBox="1"/>
          <p:nvPr/>
        </p:nvSpPr>
        <p:spPr>
          <a:xfrm>
            <a:off x="4645152" y="2642616"/>
            <a:ext cx="3931920"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configured benchmarks</a:t>
            </a:r>
          </a:p>
        </p:txBody>
      </p:sp>
      <p:sp>
        <p:nvSpPr>
          <p:cNvPr id="14" name="TextBox 13"/>
          <p:cNvSpPr txBox="1"/>
          <p:nvPr/>
        </p:nvSpPr>
        <p:spPr>
          <a:xfrm>
            <a:off x="640080" y="3822191"/>
            <a:ext cx="10917936" cy="457200"/>
          </a:xfrm>
          <a:prstGeom prst="rect">
            <a:avLst/>
          </a:prstGeom>
          <a:noFill/>
        </p:spPr>
        <p:txBody>
          <a:bodyPr wrap="square" lIns="9144" rIns="9144" tIns="13716" bIns="13716" anchor="t">
            <a:spAutoFit/>
          </a:bodyPr>
          <a:lstStyle/>
          <a:p>
            <a:pPr algn="l">
              <a:lnSpc>
                <a:spcPct val="110000"/>
              </a:lnSpc>
              <a:spcBef>
                <a:spcPts val="0"/>
              </a:spcBef>
              <a:spcAft>
                <a:spcPts val="500"/>
              </a:spcAft>
              <a:defRPr sz="2400" b="1">
                <a:solidFill>
                  <a:srgbClr val="20292D"/>
                </a:solidFill>
                <a:latin typeface="DejaVu Sans"/>
              </a:defRPr>
            </a:pPr>
            <a:r>
              <a:t>Broader inventory: 422 unique programs / variants</a:t>
            </a:r>
          </a:p>
        </p:txBody>
      </p:sp>
      <p:sp>
        <p:nvSpPr>
          <p:cNvPr id="15" name="Rectangle 14"/>
          <p:cNvSpPr/>
          <p:nvPr/>
        </p:nvSpPr>
        <p:spPr>
          <a:xfrm>
            <a:off x="640080" y="4553712"/>
            <a:ext cx="10132852" cy="42062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72932" y="4553712"/>
            <a:ext cx="647880" cy="420624"/>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420812" y="4553712"/>
            <a:ext cx="155491" cy="420624"/>
          </a:xfrm>
          <a:prstGeom prst="rect">
            <a:avLst/>
          </a:prstGeom>
          <a:solidFill>
            <a:srgbClr val="AC8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111496"/>
            <a:ext cx="3511296"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2200" b="1">
                <a:solidFill>
                  <a:srgbClr val="087F72"/>
                </a:solidFill>
                <a:latin typeface="DejaVu Sans"/>
              </a:defRPr>
            </a:pPr>
            <a:r>
              <a:t>391 reported PASS</a:t>
            </a:r>
          </a:p>
        </p:txBody>
      </p:sp>
      <p:sp>
        <p:nvSpPr>
          <p:cNvPr id="19" name="TextBox 18"/>
          <p:cNvSpPr txBox="1"/>
          <p:nvPr/>
        </p:nvSpPr>
        <p:spPr>
          <a:xfrm>
            <a:off x="4709160" y="5111496"/>
            <a:ext cx="3511296"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2200" b="1">
                <a:solidFill>
                  <a:srgbClr val="CE594B"/>
                </a:solidFill>
                <a:latin typeface="DejaVu Sans"/>
              </a:defRPr>
            </a:pPr>
            <a:r>
              <a:t>25 FAIL</a:t>
            </a:r>
          </a:p>
        </p:txBody>
      </p:sp>
      <p:sp>
        <p:nvSpPr>
          <p:cNvPr id="20" name="TextBox 19"/>
          <p:cNvSpPr txBox="1"/>
          <p:nvPr/>
        </p:nvSpPr>
        <p:spPr>
          <a:xfrm>
            <a:off x="7982712" y="5111496"/>
            <a:ext cx="3511296"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2200" b="1">
                <a:solidFill>
                  <a:srgbClr val="AC801D"/>
                </a:solidFill>
                <a:latin typeface="DejaVu Sans"/>
              </a:defRPr>
            </a:pPr>
            <a:r>
              <a:t>6 wall timeouts</a:t>
            </a:r>
          </a:p>
        </p:txBody>
      </p:sp>
      <p:sp>
        <p:nvSpPr>
          <p:cNvPr id="21" name="Rectangle 20"/>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087F72"/>
                </a:solidFill>
                <a:latin typeface="DejaVu Sans"/>
              </a:defRPr>
            </a:pPr>
            <a:r>
              <a:t>The expanded inventory did not pass completely. Do not report 422/422 passing.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RESULTS | SIMULATION</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Interpreting failures, timeouts and passes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Test intent and the correctness of the test itself matter.</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15</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reports/simulation/README.md | reports/simulation/reference-comparison/summary.json</a:t>
            </a:r>
          </a:p>
        </p:txBody>
      </p:sp>
      <p:sp>
        <p:nvSpPr>
          <p:cNvPr id="10" name="Rectangle 9"/>
          <p:cNvSpPr/>
          <p:nvPr/>
        </p:nvSpPr>
        <p:spPr>
          <a:xfrm>
            <a:off x="621792" y="1856231"/>
            <a:ext cx="5294376" cy="138988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1856231"/>
            <a:ext cx="50292" cy="1389888"/>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75103"/>
            <a:ext cx="5020056"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CE594B"/>
                </a:solidFill>
                <a:latin typeface="DejaVu Sans"/>
              </a:defRPr>
            </a:pPr>
            <a:r>
              <a:t>9 ISA NON-PASSES</a:t>
            </a:r>
          </a:p>
        </p:txBody>
      </p:sp>
      <p:sp>
        <p:nvSpPr>
          <p:cNvPr id="13" name="TextBox 12"/>
          <p:cNvSpPr txBox="1"/>
          <p:nvPr/>
        </p:nvSpPr>
        <p:spPr>
          <a:xfrm>
            <a:off x="768096" y="2432303"/>
            <a:ext cx="5020056" cy="74066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Additional unsupported-feature or</a:t>
            </a:r>
          </a:p>
          <a:p>
            <a:pPr algn="l">
              <a:lnSpc>
                <a:spcPct val="110000"/>
              </a:lnSpc>
              <a:spcBef>
                <a:spcPts val="0"/>
              </a:spcBef>
              <a:spcAft>
                <a:spcPts val="500"/>
              </a:spcAft>
              <a:defRPr sz="1700" b="0">
                <a:solidFill>
                  <a:srgbClr val="566469"/>
                </a:solidFill>
                <a:latin typeface="DejaVu Sans"/>
              </a:defRPr>
            </a:pPr>
            <a:r>
              <a:t>misaligned-access expectation probes</a:t>
            </a:r>
          </a:p>
        </p:txBody>
      </p:sp>
      <p:sp>
        <p:nvSpPr>
          <p:cNvPr id="14" name="Rectangle 13"/>
          <p:cNvSpPr/>
          <p:nvPr/>
        </p:nvSpPr>
        <p:spPr>
          <a:xfrm>
            <a:off x="6281928" y="1856231"/>
            <a:ext cx="5294376" cy="1389888"/>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81928" y="1856231"/>
            <a:ext cx="50292" cy="1389888"/>
          </a:xfrm>
          <a:prstGeom prst="rect">
            <a:avLst/>
          </a:prstGeom>
          <a:solidFill>
            <a:srgbClr val="AC8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975103"/>
            <a:ext cx="5020056"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AC801D"/>
                </a:solidFill>
                <a:latin typeface="DejaVu Sans"/>
              </a:defRPr>
            </a:pPr>
            <a:r>
              <a:t>22 LEGACY NON-PASSES</a:t>
            </a:r>
          </a:p>
        </p:txBody>
      </p:sp>
      <p:sp>
        <p:nvSpPr>
          <p:cNvPr id="17" name="TextBox 16"/>
          <p:cNvSpPr txBox="1"/>
          <p:nvPr/>
        </p:nvSpPr>
        <p:spPr>
          <a:xfrm>
            <a:off x="6428232" y="2432303"/>
            <a:ext cx="5020056" cy="74066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Matrix geometry / test-oracle defects;</a:t>
            </a:r>
          </a:p>
          <a:p>
            <a:pPr algn="l">
              <a:lnSpc>
                <a:spcPct val="110000"/>
              </a:lnSpc>
              <a:spcBef>
                <a:spcPts val="0"/>
              </a:spcBef>
              <a:spcAft>
                <a:spcPts val="500"/>
              </a:spcAft>
              <a:defRPr sz="1700" b="0">
                <a:solidFill>
                  <a:srgbClr val="566469"/>
                </a:solidFill>
                <a:latin typeface="DejaVu Sans"/>
              </a:defRPr>
            </a:pPr>
            <a:r>
              <a:t>32 x 32 assumptions vs 16 x 16 data</a:t>
            </a:r>
          </a:p>
        </p:txBody>
      </p:sp>
      <p:sp>
        <p:nvSpPr>
          <p:cNvPr id="18" name="Rectangle 17"/>
          <p:cNvSpPr/>
          <p:nvPr/>
        </p:nvSpPr>
        <p:spPr>
          <a:xfrm>
            <a:off x="676656" y="3776472"/>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657600"/>
            <a:ext cx="10616184" cy="48463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Some reported legacy passes also have bounds or result-checking caveats.</a:t>
            </a:r>
          </a:p>
        </p:txBody>
      </p:sp>
      <p:sp>
        <p:nvSpPr>
          <p:cNvPr id="20" name="Rectangle 19"/>
          <p:cNvSpPr/>
          <p:nvPr/>
        </p:nvSpPr>
        <p:spPr>
          <a:xfrm>
            <a:off x="676656" y="4334256"/>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215384"/>
            <a:ext cx="10616184" cy="48463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Three corrected multicore supplements passed both RTL and Spike.</a:t>
            </a:r>
          </a:p>
        </p:txBody>
      </p:sp>
      <p:sp>
        <p:nvSpPr>
          <p:cNvPr id="22" name="Rectangle 21"/>
          <p:cNvSpPr/>
          <p:nvPr/>
        </p:nvSpPr>
        <p:spPr>
          <a:xfrm>
            <a:off x="676656" y="4892040"/>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773168"/>
            <a:ext cx="10616184" cy="484632"/>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Spike agreed on 391 PASS and 31 non-PASS classifications.</a:t>
            </a:r>
          </a:p>
        </p:txBody>
      </p:sp>
      <p:sp>
        <p:nvSpPr>
          <p:cNvPr id="24" name="Rectangle 23"/>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50" b="1">
                <a:solidFill>
                  <a:srgbClr val="087F72"/>
                </a:solidFill>
                <a:latin typeface="DejaVu Sans"/>
              </a:defRPr>
            </a:pPr>
            <a:r>
              <a:t>Agreement with Spike is supporting evidence, not formal equivalence or exhaustive verification.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RESULTS | LINT</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Lint: zero errors, warnings retained</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Both tools analyzed full ChipTop using the original behavioral memories.</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16</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reports/lint/README.md | reports/lint/evidence/summary.json</a:t>
            </a:r>
          </a:p>
        </p:txBody>
      </p:sp>
      <p:sp>
        <p:nvSpPr>
          <p:cNvPr id="10" name="Rectangle 9"/>
          <p:cNvSpPr/>
          <p:nvPr/>
        </p:nvSpPr>
        <p:spPr>
          <a:xfrm>
            <a:off x="594360" y="1856231"/>
            <a:ext cx="11009376" cy="585216"/>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47672"/>
            <a:ext cx="4498848" cy="475488"/>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FFFFFF"/>
                </a:solidFill>
                <a:latin typeface="DejaVu Sans"/>
              </a:defRPr>
            </a:pPr>
            <a:r>
              <a:t>TOOL</a:t>
            </a:r>
          </a:p>
        </p:txBody>
      </p:sp>
      <p:sp>
        <p:nvSpPr>
          <p:cNvPr id="12" name="TextBox 11"/>
          <p:cNvSpPr txBox="1"/>
          <p:nvPr/>
        </p:nvSpPr>
        <p:spPr>
          <a:xfrm>
            <a:off x="5404104" y="1947672"/>
            <a:ext cx="1673351" cy="475488"/>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FFFFFF"/>
                </a:solidFill>
                <a:latin typeface="DejaVu Sans"/>
              </a:defRPr>
            </a:pPr>
            <a:r>
              <a:t>ERRORS</a:t>
            </a:r>
          </a:p>
        </p:txBody>
      </p:sp>
      <p:sp>
        <p:nvSpPr>
          <p:cNvPr id="13" name="TextBox 12"/>
          <p:cNvSpPr txBox="1"/>
          <p:nvPr/>
        </p:nvSpPr>
        <p:spPr>
          <a:xfrm>
            <a:off x="7278624" y="1947672"/>
            <a:ext cx="2322575" cy="475488"/>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FFFFFF"/>
                </a:solidFill>
                <a:latin typeface="DejaVu Sans"/>
              </a:defRPr>
            </a:pPr>
            <a:r>
              <a:t>WARNINGS</a:t>
            </a:r>
          </a:p>
        </p:txBody>
      </p:sp>
      <p:sp>
        <p:nvSpPr>
          <p:cNvPr id="14" name="TextBox 13"/>
          <p:cNvSpPr txBox="1"/>
          <p:nvPr/>
        </p:nvSpPr>
        <p:spPr>
          <a:xfrm>
            <a:off x="9802367" y="1947672"/>
            <a:ext cx="1709928" cy="475488"/>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FFFFFF"/>
                </a:solidFill>
                <a:latin typeface="DejaVu Sans"/>
              </a:defRPr>
            </a:pPr>
            <a:r>
              <a:t>NOTES</a:t>
            </a:r>
          </a:p>
        </p:txBody>
      </p:sp>
      <p:sp>
        <p:nvSpPr>
          <p:cNvPr id="15" name="Rectangle 14"/>
          <p:cNvSpPr/>
          <p:nvPr/>
        </p:nvSpPr>
        <p:spPr>
          <a:xfrm>
            <a:off x="594360" y="2441448"/>
            <a:ext cx="11009376"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2523744"/>
            <a:ext cx="4498848"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20292D"/>
                </a:solidFill>
                <a:latin typeface="DejaVu Sans"/>
              </a:defRPr>
            </a:pPr>
            <a:r>
              <a:t>Verilator 5.051</a:t>
            </a:r>
          </a:p>
        </p:txBody>
      </p:sp>
      <p:sp>
        <p:nvSpPr>
          <p:cNvPr id="17" name="TextBox 16"/>
          <p:cNvSpPr txBox="1"/>
          <p:nvPr/>
        </p:nvSpPr>
        <p:spPr>
          <a:xfrm>
            <a:off x="5404104" y="2523744"/>
            <a:ext cx="1673351"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0</a:t>
            </a:r>
          </a:p>
        </p:txBody>
      </p:sp>
      <p:sp>
        <p:nvSpPr>
          <p:cNvPr id="18" name="TextBox 17"/>
          <p:cNvSpPr txBox="1"/>
          <p:nvPr/>
        </p:nvSpPr>
        <p:spPr>
          <a:xfrm>
            <a:off x="7278624" y="2523744"/>
            <a:ext cx="2322575"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2,484</a:t>
            </a:r>
          </a:p>
        </p:txBody>
      </p:sp>
      <p:sp>
        <p:nvSpPr>
          <p:cNvPr id="19" name="TextBox 18"/>
          <p:cNvSpPr txBox="1"/>
          <p:nvPr/>
        </p:nvSpPr>
        <p:spPr>
          <a:xfrm>
            <a:off x="9802367" y="2523744"/>
            <a:ext cx="1709928"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0</a:t>
            </a:r>
          </a:p>
        </p:txBody>
      </p:sp>
      <p:sp>
        <p:nvSpPr>
          <p:cNvPr id="20" name="Rectangle 19"/>
          <p:cNvSpPr/>
          <p:nvPr/>
        </p:nvSpPr>
        <p:spPr>
          <a:xfrm>
            <a:off x="594360" y="3026663"/>
            <a:ext cx="11009376" cy="585216"/>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108959"/>
            <a:ext cx="4498848"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20292D"/>
                </a:solidFill>
                <a:latin typeface="DejaVu Sans"/>
              </a:defRPr>
            </a:pPr>
            <a:r>
              <a:t>slang 11.0.448</a:t>
            </a:r>
          </a:p>
        </p:txBody>
      </p:sp>
      <p:sp>
        <p:nvSpPr>
          <p:cNvPr id="22" name="TextBox 21"/>
          <p:cNvSpPr txBox="1"/>
          <p:nvPr/>
        </p:nvSpPr>
        <p:spPr>
          <a:xfrm>
            <a:off x="5404104" y="3108959"/>
            <a:ext cx="1673351"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0</a:t>
            </a:r>
          </a:p>
        </p:txBody>
      </p:sp>
      <p:sp>
        <p:nvSpPr>
          <p:cNvPr id="23" name="TextBox 22"/>
          <p:cNvSpPr txBox="1"/>
          <p:nvPr/>
        </p:nvSpPr>
        <p:spPr>
          <a:xfrm>
            <a:off x="7278624" y="3108959"/>
            <a:ext cx="2322575"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21</a:t>
            </a:r>
          </a:p>
        </p:txBody>
      </p:sp>
      <p:sp>
        <p:nvSpPr>
          <p:cNvPr id="24" name="TextBox 23"/>
          <p:cNvSpPr txBox="1"/>
          <p:nvPr/>
        </p:nvSpPr>
        <p:spPr>
          <a:xfrm>
            <a:off x="9802367" y="3108959"/>
            <a:ext cx="1709928" cy="49377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21</a:t>
            </a:r>
          </a:p>
        </p:txBody>
      </p:sp>
      <p:sp>
        <p:nvSpPr>
          <p:cNvPr id="25" name="TextBox 24"/>
          <p:cNvSpPr txBox="1"/>
          <p:nvPr/>
        </p:nvSpPr>
        <p:spPr>
          <a:xfrm>
            <a:off x="640080" y="4014215"/>
            <a:ext cx="5120640" cy="35661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087F72"/>
                </a:solidFill>
                <a:latin typeface="DejaVu Sans"/>
              </a:defRPr>
            </a:pPr>
            <a:r>
              <a:t>Dominant baseline</a:t>
            </a:r>
          </a:p>
        </p:txBody>
      </p:sp>
      <p:sp>
        <p:nvSpPr>
          <p:cNvPr id="26" name="TextBox 25"/>
          <p:cNvSpPr txBox="1"/>
          <p:nvPr/>
        </p:nvSpPr>
        <p:spPr>
          <a:xfrm>
            <a:off x="658368" y="4535424"/>
            <a:ext cx="5166360" cy="832104"/>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566469"/>
                </a:solidFill>
                <a:latin typeface="DejaVu Sans"/>
              </a:defRPr>
            </a:pPr>
            <a:r>
              <a:t>2,047 unused-signal warnings</a:t>
            </a:r>
          </a:p>
          <a:p>
            <a:pPr algn="l">
              <a:lnSpc>
                <a:spcPct val="110000"/>
              </a:lnSpc>
              <a:spcBef>
                <a:spcPts val="0"/>
              </a:spcBef>
              <a:spcAft>
                <a:spcPts val="500"/>
              </a:spcAft>
              <a:defRPr sz="2000" b="0">
                <a:solidFill>
                  <a:srgbClr val="566469"/>
                </a:solidFill>
                <a:latin typeface="DejaVu Sans"/>
              </a:defRPr>
            </a:pPr>
            <a:r>
              <a:t>424 empty pin connections</a:t>
            </a:r>
          </a:p>
        </p:txBody>
      </p:sp>
      <p:sp>
        <p:nvSpPr>
          <p:cNvPr id="27" name="TextBox 26"/>
          <p:cNvSpPr txBox="1"/>
          <p:nvPr/>
        </p:nvSpPr>
        <p:spPr>
          <a:xfrm>
            <a:off x="6291072" y="4014215"/>
            <a:ext cx="5212080" cy="356616"/>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1">
                <a:solidFill>
                  <a:srgbClr val="CE594B"/>
                </a:solidFill>
                <a:latin typeface="DejaVu Sans"/>
              </a:defRPr>
            </a:pPr>
            <a:r>
              <a:t>Review items still visible</a:t>
            </a:r>
          </a:p>
        </p:txBody>
      </p:sp>
      <p:sp>
        <p:nvSpPr>
          <p:cNvPr id="28" name="TextBox 27"/>
          <p:cNvSpPr txBox="1"/>
          <p:nvPr/>
        </p:nvSpPr>
        <p:spPr>
          <a:xfrm>
            <a:off x="6309360" y="4535424"/>
            <a:ext cx="5212080" cy="832104"/>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0">
                <a:solidFill>
                  <a:srgbClr val="566469"/>
                </a:solidFill>
                <a:latin typeface="DejaVu Sans"/>
              </a:defRPr>
            </a:pPr>
            <a:r>
              <a:t>4 reset-related SYNCASYNCNET warnings</a:t>
            </a:r>
          </a:p>
          <a:p>
            <a:pPr algn="l">
              <a:lnSpc>
                <a:spcPct val="110000"/>
              </a:lnSpc>
              <a:spcBef>
                <a:spcPts val="0"/>
              </a:spcBef>
              <a:spcAft>
                <a:spcPts val="500"/>
              </a:spcAft>
              <a:defRPr sz="1900" b="0">
                <a:solidFill>
                  <a:srgbClr val="566469"/>
                </a:solidFill>
                <a:latin typeface="DejaVu Sans"/>
              </a:defRPr>
            </a:pPr>
            <a:r>
              <a:t>1 clock-gate latch; 21 shift expressions</a:t>
            </a:r>
          </a:p>
        </p:txBody>
      </p:sp>
      <p:sp>
        <p:nvSpPr>
          <p:cNvPr id="29" name="Rectangle 28"/>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Zero errors is not warning-free signoff. Dedicated CDC/RDC review remains necessary.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IMPLEMENTATION FLOW</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How full-SoC synthesis was performed</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Yosys performs synthesis and mapping; OpenROAD checks the mapped netlist can link.</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17</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reports/synthesis/README.md | scripts/dual-rocket/synthesis/README.md</a:t>
            </a:r>
          </a:p>
        </p:txBody>
      </p:sp>
      <p:sp>
        <p:nvSpPr>
          <p:cNvPr id="10" name="TextBox 9"/>
          <p:cNvSpPr txBox="1"/>
          <p:nvPr/>
        </p:nvSpPr>
        <p:spPr>
          <a:xfrm>
            <a:off x="658368" y="1828800"/>
            <a:ext cx="667512"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700" b="1">
                <a:solidFill>
                  <a:srgbClr val="087F72"/>
                </a:solidFill>
                <a:latin typeface="DejaVu Sans"/>
              </a:defRPr>
            </a:pPr>
            <a:r>
              <a:t>01</a:t>
            </a:r>
          </a:p>
        </p:txBody>
      </p:sp>
      <p:sp>
        <p:nvSpPr>
          <p:cNvPr id="11" name="TextBox 10"/>
          <p:cNvSpPr txBox="1"/>
          <p:nvPr/>
        </p:nvSpPr>
        <p:spPr>
          <a:xfrm>
            <a:off x="1563624" y="1828800"/>
            <a:ext cx="9866376"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20292D"/>
                </a:solidFill>
                <a:latin typeface="DejaVu Sans"/>
              </a:defRPr>
            </a:pPr>
            <a:r>
              <a:t>Validate RTL + SRAM inventory</a:t>
            </a:r>
          </a:p>
        </p:txBody>
      </p:sp>
      <p:sp>
        <p:nvSpPr>
          <p:cNvPr id="12" name="TextBox 11"/>
          <p:cNvSpPr txBox="1"/>
          <p:nvPr/>
        </p:nvSpPr>
        <p:spPr>
          <a:xfrm>
            <a:off x="1581912" y="2276856"/>
            <a:ext cx="9784080" cy="34747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Check dimensions, masks, instances and source hashes.</a:t>
            </a:r>
          </a:p>
        </p:txBody>
      </p:sp>
      <p:sp>
        <p:nvSpPr>
          <p:cNvPr id="13" name="TextBox 12"/>
          <p:cNvSpPr txBox="1"/>
          <p:nvPr/>
        </p:nvSpPr>
        <p:spPr>
          <a:xfrm>
            <a:off x="658368" y="2724912"/>
            <a:ext cx="667512"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700" b="1">
                <a:solidFill>
                  <a:srgbClr val="087F72"/>
                </a:solidFill>
                <a:latin typeface="DejaVu Sans"/>
              </a:defRPr>
            </a:pPr>
            <a:r>
              <a:t>02</a:t>
            </a:r>
          </a:p>
        </p:txBody>
      </p:sp>
      <p:sp>
        <p:nvSpPr>
          <p:cNvPr id="14" name="TextBox 13"/>
          <p:cNvSpPr txBox="1"/>
          <p:nvPr/>
        </p:nvSpPr>
        <p:spPr>
          <a:xfrm>
            <a:off x="1563624" y="2724912"/>
            <a:ext cx="9866376"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20292D"/>
                </a:solidFill>
                <a:latin typeface="DejaVu Sans"/>
              </a:defRPr>
            </a:pPr>
            <a:r>
              <a:t>Check SRAM adapters</a:t>
            </a:r>
          </a:p>
        </p:txBody>
      </p:sp>
      <p:sp>
        <p:nvSpPr>
          <p:cNvPr id="15" name="TextBox 14"/>
          <p:cNvSpPr txBox="1"/>
          <p:nvPr/>
        </p:nvSpPr>
        <p:spPr>
          <a:xfrm>
            <a:off x="1581912" y="3172968"/>
            <a:ext cx="9784080" cy="34747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Compare generated memory behavior over seven interfaces.</a:t>
            </a:r>
          </a:p>
        </p:txBody>
      </p:sp>
      <p:sp>
        <p:nvSpPr>
          <p:cNvPr id="16" name="TextBox 15"/>
          <p:cNvSpPr txBox="1"/>
          <p:nvPr/>
        </p:nvSpPr>
        <p:spPr>
          <a:xfrm>
            <a:off x="658368" y="3621024"/>
            <a:ext cx="667512"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700" b="1">
                <a:solidFill>
                  <a:srgbClr val="087F72"/>
                </a:solidFill>
                <a:latin typeface="DejaVu Sans"/>
              </a:defRPr>
            </a:pPr>
            <a:r>
              <a:t>03</a:t>
            </a:r>
          </a:p>
        </p:txBody>
      </p:sp>
      <p:sp>
        <p:nvSpPr>
          <p:cNvPr id="17" name="TextBox 16"/>
          <p:cNvSpPr txBox="1"/>
          <p:nvPr/>
        </p:nvSpPr>
        <p:spPr>
          <a:xfrm>
            <a:off x="1563624" y="3621024"/>
            <a:ext cx="9866376"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20292D"/>
                </a:solidFill>
                <a:latin typeface="DejaVu Sans"/>
              </a:defRPr>
            </a:pPr>
            <a:r>
              <a:t>Synthesize and technology-map</a:t>
            </a:r>
          </a:p>
        </p:txBody>
      </p:sp>
      <p:sp>
        <p:nvSpPr>
          <p:cNvPr id="18" name="TextBox 17"/>
          <p:cNvSpPr txBox="1"/>
          <p:nvPr/>
        </p:nvSpPr>
        <p:spPr>
          <a:xfrm>
            <a:off x="1581912" y="4069080"/>
            <a:ext cx="9784080" cy="34747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Yosys + slang + ABC; Nangate45 / fakeram45 libraries.</a:t>
            </a:r>
          </a:p>
        </p:txBody>
      </p:sp>
      <p:sp>
        <p:nvSpPr>
          <p:cNvPr id="19" name="TextBox 18"/>
          <p:cNvSpPr txBox="1"/>
          <p:nvPr/>
        </p:nvSpPr>
        <p:spPr>
          <a:xfrm>
            <a:off x="658368" y="4517136"/>
            <a:ext cx="667512"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700" b="1">
                <a:solidFill>
                  <a:srgbClr val="087F72"/>
                </a:solidFill>
                <a:latin typeface="DejaVu Sans"/>
              </a:defRPr>
            </a:pPr>
            <a:r>
              <a:t>04</a:t>
            </a:r>
          </a:p>
        </p:txBody>
      </p:sp>
      <p:sp>
        <p:nvSpPr>
          <p:cNvPr id="20" name="TextBox 19"/>
          <p:cNvSpPr txBox="1"/>
          <p:nvPr/>
        </p:nvSpPr>
        <p:spPr>
          <a:xfrm>
            <a:off x="1563624" y="4517136"/>
            <a:ext cx="9866376"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1">
                <a:solidFill>
                  <a:srgbClr val="20292D"/>
                </a:solidFill>
                <a:latin typeface="DejaVu Sans"/>
              </a:defRPr>
            </a:pPr>
            <a:r>
              <a:t>Link and audit the result</a:t>
            </a:r>
          </a:p>
        </p:txBody>
      </p:sp>
      <p:sp>
        <p:nvSpPr>
          <p:cNvPr id="21" name="TextBox 20"/>
          <p:cNvSpPr txBox="1"/>
          <p:nvPr/>
        </p:nvSpPr>
        <p:spPr>
          <a:xfrm>
            <a:off x="1581912" y="4965192"/>
            <a:ext cx="9784080" cy="347472"/>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566469"/>
                </a:solidFill>
                <a:latin typeface="DejaVu Sans"/>
              </a:defRPr>
            </a:pPr>
            <a:r>
              <a:t>OpenROAD reads all mapped instances; recheck inputs.</a:t>
            </a:r>
          </a:p>
        </p:txBody>
      </p:sp>
      <p:sp>
        <p:nvSpPr>
          <p:cNvPr id="22" name="Rectangle 21"/>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50" b="1">
                <a:solidFill>
                  <a:srgbClr val="087F72"/>
                </a:solidFill>
                <a:latin typeface="DejaVu Sans"/>
              </a:defRPr>
            </a:pPr>
            <a:r>
              <a:t>Technology mapping completed. No timing constraint, floorplan, placement or routing was run.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MEMORY IMPLEMENTATION</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SRAM adaptation was a separate task</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Logical memories must be matched to available macro width, depth and write-mask behavior.</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18</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reports/synthesis/README.md | reports/synthesis/inventory.json</a:t>
            </a:r>
          </a:p>
        </p:txBody>
      </p:sp>
      <p:sp>
        <p:nvSpPr>
          <p:cNvPr id="10" name="TextBox 9"/>
          <p:cNvSpPr txBox="1"/>
          <p:nvPr/>
        </p:nvSpPr>
        <p:spPr>
          <a:xfrm>
            <a:off x="658368" y="1901952"/>
            <a:ext cx="3328416"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7</a:t>
            </a:r>
          </a:p>
        </p:txBody>
      </p:sp>
      <p:sp>
        <p:nvSpPr>
          <p:cNvPr id="11" name="TextBox 10"/>
          <p:cNvSpPr txBox="1"/>
          <p:nvPr/>
        </p:nvSpPr>
        <p:spPr>
          <a:xfrm>
            <a:off x="658368" y="2715768"/>
            <a:ext cx="3328416"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interface shapes</a:t>
            </a:r>
          </a:p>
        </p:txBody>
      </p:sp>
      <p:sp>
        <p:nvSpPr>
          <p:cNvPr id="12" name="TextBox 11"/>
          <p:cNvSpPr txBox="1"/>
          <p:nvPr/>
        </p:nvSpPr>
        <p:spPr>
          <a:xfrm>
            <a:off x="4526280" y="1901952"/>
            <a:ext cx="3328416"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3279A3"/>
                </a:solidFill>
                <a:latin typeface="DejaVu Sans"/>
              </a:defRPr>
            </a:pPr>
            <a:r>
              <a:t>16</a:t>
            </a:r>
          </a:p>
        </p:txBody>
      </p:sp>
      <p:sp>
        <p:nvSpPr>
          <p:cNvPr id="13" name="TextBox 12"/>
          <p:cNvSpPr txBox="1"/>
          <p:nvPr/>
        </p:nvSpPr>
        <p:spPr>
          <a:xfrm>
            <a:off x="4526280" y="2715768"/>
            <a:ext cx="3328416"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logical memory instances</a:t>
            </a:r>
          </a:p>
        </p:txBody>
      </p:sp>
      <p:sp>
        <p:nvSpPr>
          <p:cNvPr id="14" name="TextBox 13"/>
          <p:cNvSpPr txBox="1"/>
          <p:nvPr/>
        </p:nvSpPr>
        <p:spPr>
          <a:xfrm>
            <a:off x="8412480" y="1901952"/>
            <a:ext cx="3136392"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CE594B"/>
                </a:solidFill>
                <a:latin typeface="DejaVu Sans"/>
              </a:defRPr>
            </a:pPr>
            <a:r>
              <a:t>194</a:t>
            </a:r>
          </a:p>
        </p:txBody>
      </p:sp>
      <p:sp>
        <p:nvSpPr>
          <p:cNvPr id="15" name="TextBox 14"/>
          <p:cNvSpPr txBox="1"/>
          <p:nvPr/>
        </p:nvSpPr>
        <p:spPr>
          <a:xfrm>
            <a:off x="8412480" y="2715768"/>
            <a:ext cx="3136392"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512 x 64 SRAM macros</a:t>
            </a:r>
          </a:p>
        </p:txBody>
      </p:sp>
      <p:sp>
        <p:nvSpPr>
          <p:cNvPr id="16" name="TextBox 15"/>
          <p:cNvSpPr txBox="1"/>
          <p:nvPr/>
        </p:nvSpPr>
        <p:spPr>
          <a:xfrm>
            <a:off x="676656" y="3913632"/>
            <a:ext cx="5212080"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50" b="1">
                <a:solidFill>
                  <a:srgbClr val="20292D"/>
                </a:solidFill>
                <a:latin typeface="DejaVu Sans"/>
              </a:defRPr>
            </a:pPr>
            <a:r>
              <a:t>Two-core-specific change</a:t>
            </a:r>
          </a:p>
        </p:txBody>
      </p:sp>
      <p:sp>
        <p:nvSpPr>
          <p:cNvPr id="17" name="TextBox 16"/>
          <p:cNvSpPr txBox="1"/>
          <p:nvPr/>
        </p:nvSpPr>
        <p:spPr>
          <a:xfrm>
            <a:off x="694944" y="4489704"/>
            <a:ext cx="5257800" cy="822960"/>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0">
                <a:solidFill>
                  <a:srgbClr val="566469"/>
                </a:solidFill>
                <a:latin typeface="DejaVu Sans"/>
              </a:defRPr>
            </a:pPr>
            <a:r>
              <a:t>L2 directory: 1024 x 144 bits</a:t>
            </a:r>
          </a:p>
          <a:p>
            <a:pPr algn="l">
              <a:lnSpc>
                <a:spcPct val="110000"/>
              </a:lnSpc>
              <a:spcBef>
                <a:spcPts val="0"/>
              </a:spcBef>
              <a:spcAft>
                <a:spcPts val="500"/>
              </a:spcAft>
              <a:defRPr sz="2100" b="0">
                <a:solidFill>
                  <a:srgbClr val="566469"/>
                </a:solidFill>
                <a:latin typeface="DejaVu Sans"/>
              </a:defRPr>
            </a:pPr>
            <a:r>
              <a:t>Mask granularity: 18 bits</a:t>
            </a:r>
          </a:p>
        </p:txBody>
      </p:sp>
      <p:sp>
        <p:nvSpPr>
          <p:cNvPr id="18" name="TextBox 17"/>
          <p:cNvSpPr txBox="1"/>
          <p:nvPr/>
        </p:nvSpPr>
        <p:spPr>
          <a:xfrm>
            <a:off x="6300216" y="3913632"/>
            <a:ext cx="5212080"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50" b="1">
                <a:solidFill>
                  <a:srgbClr val="087F72"/>
                </a:solidFill>
                <a:latin typeface="DejaVu Sans"/>
              </a:defRPr>
            </a:pPr>
            <a:r>
              <a:t>Adapter comparison result</a:t>
            </a:r>
          </a:p>
        </p:txBody>
      </p:sp>
      <p:sp>
        <p:nvSpPr>
          <p:cNvPr id="19" name="TextBox 18"/>
          <p:cNvSpPr txBox="1"/>
          <p:nvPr/>
        </p:nvSpPr>
        <p:spPr>
          <a:xfrm>
            <a:off x="6318504" y="4489704"/>
            <a:ext cx="5166360" cy="822960"/>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0">
                <a:solidFill>
                  <a:srgbClr val="087F72"/>
                </a:solidFill>
                <a:latin typeface="DejaVu Sans"/>
              </a:defRPr>
            </a:pPr>
            <a:r>
              <a:t>7 interfaces x 3 seeds</a:t>
            </a:r>
          </a:p>
          <a:p>
            <a:pPr algn="l">
              <a:lnSpc>
                <a:spcPct val="110000"/>
              </a:lnSpc>
              <a:spcBef>
                <a:spcPts val="0"/>
              </a:spcBef>
              <a:spcAft>
                <a:spcPts val="500"/>
              </a:spcAft>
              <a:defRPr sz="2100" b="0">
                <a:solidFill>
                  <a:srgbClr val="087F72"/>
                </a:solidFill>
                <a:latin typeface="DejaVu Sans"/>
              </a:defRPr>
            </a:pPr>
            <a:r>
              <a:t>212,364 compared cycles: PASS</a:t>
            </a:r>
          </a:p>
        </p:txBody>
      </p:sp>
      <p:sp>
        <p:nvSpPr>
          <p:cNvPr id="20" name="Rectangle 19"/>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50" b="1">
                <a:solidFill>
                  <a:srgbClr val="087F72"/>
                </a:solidFill>
                <a:latin typeface="DejaVu Sans"/>
              </a:defRPr>
            </a:pPr>
            <a:r>
              <a:t>Finite initialized-state simulation passed. Formal and X-state equivalence were not established.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RESULTS | SYNTHESIS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Synthesis results: mapped and linked</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Exploratory Nangate45 / fakeram45 library estimate. Not die area or manufacturing signoff.</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19</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reports/synthesis/README.md | reports/synthesis/mapped-statistics.json</a:t>
            </a:r>
          </a:p>
        </p:txBody>
      </p:sp>
      <p:sp>
        <p:nvSpPr>
          <p:cNvPr id="10" name="TextBox 9"/>
          <p:cNvSpPr txBox="1"/>
          <p:nvPr/>
        </p:nvSpPr>
        <p:spPr>
          <a:xfrm>
            <a:off x="649224" y="1810512"/>
            <a:ext cx="3822191"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087F72"/>
                </a:solidFill>
                <a:latin typeface="DejaVu Sans"/>
              </a:defRPr>
            </a:pPr>
            <a:r>
              <a:t>383,763</a:t>
            </a:r>
          </a:p>
        </p:txBody>
      </p:sp>
      <p:sp>
        <p:nvSpPr>
          <p:cNvPr id="11" name="TextBox 10"/>
          <p:cNvSpPr txBox="1"/>
          <p:nvPr/>
        </p:nvSpPr>
        <p:spPr>
          <a:xfrm>
            <a:off x="649224" y="2624328"/>
            <a:ext cx="3822191"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total mapped instances</a:t>
            </a:r>
          </a:p>
        </p:txBody>
      </p:sp>
      <p:sp>
        <p:nvSpPr>
          <p:cNvPr id="12" name="TextBox 11"/>
          <p:cNvSpPr txBox="1"/>
          <p:nvPr/>
        </p:nvSpPr>
        <p:spPr>
          <a:xfrm>
            <a:off x="4617720" y="1810512"/>
            <a:ext cx="3593592"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3279A3"/>
                </a:solidFill>
                <a:latin typeface="DejaVu Sans"/>
              </a:defRPr>
            </a:pPr>
            <a:r>
              <a:t>383,569</a:t>
            </a:r>
          </a:p>
        </p:txBody>
      </p:sp>
      <p:sp>
        <p:nvSpPr>
          <p:cNvPr id="13" name="TextBox 12"/>
          <p:cNvSpPr txBox="1"/>
          <p:nvPr/>
        </p:nvSpPr>
        <p:spPr>
          <a:xfrm>
            <a:off x="4617720" y="2624328"/>
            <a:ext cx="3593592"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standard cells</a:t>
            </a:r>
          </a:p>
        </p:txBody>
      </p:sp>
      <p:sp>
        <p:nvSpPr>
          <p:cNvPr id="14" name="TextBox 13"/>
          <p:cNvSpPr txBox="1"/>
          <p:nvPr/>
        </p:nvSpPr>
        <p:spPr>
          <a:xfrm>
            <a:off x="8650224" y="1810512"/>
            <a:ext cx="288036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900" b="1">
                <a:solidFill>
                  <a:srgbClr val="CE594B"/>
                </a:solidFill>
                <a:latin typeface="DejaVu Sans"/>
              </a:defRPr>
            </a:pPr>
            <a:r>
              <a:t>194</a:t>
            </a:r>
          </a:p>
        </p:txBody>
      </p:sp>
      <p:sp>
        <p:nvSpPr>
          <p:cNvPr id="15" name="TextBox 14"/>
          <p:cNvSpPr txBox="1"/>
          <p:nvPr/>
        </p:nvSpPr>
        <p:spPr>
          <a:xfrm>
            <a:off x="8650224" y="2624328"/>
            <a:ext cx="2880360" cy="640080"/>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20292D"/>
                </a:solidFill>
                <a:latin typeface="DejaVu Sans"/>
              </a:defRPr>
            </a:pPr>
            <a:r>
              <a:t>SRAM macros</a:t>
            </a:r>
          </a:p>
        </p:txBody>
      </p:sp>
      <p:sp>
        <p:nvSpPr>
          <p:cNvPr id="16" name="TextBox 15"/>
          <p:cNvSpPr txBox="1"/>
          <p:nvPr/>
        </p:nvSpPr>
        <p:spPr>
          <a:xfrm>
            <a:off x="676656" y="3721608"/>
            <a:ext cx="4663440" cy="704088"/>
          </a:xfrm>
          <a:prstGeom prst="rect">
            <a:avLst/>
          </a:prstGeom>
          <a:noFill/>
        </p:spPr>
        <p:txBody>
          <a:bodyPr wrap="square" lIns="9144" rIns="9144" tIns="13716" bIns="13716" anchor="t">
            <a:spAutoFit/>
          </a:bodyPr>
          <a:lstStyle/>
          <a:p>
            <a:pPr algn="l">
              <a:lnSpc>
                <a:spcPct val="110000"/>
              </a:lnSpc>
              <a:spcBef>
                <a:spcPts val="0"/>
              </a:spcBef>
              <a:spcAft>
                <a:spcPts val="500"/>
              </a:spcAft>
              <a:defRPr sz="3500" b="1">
                <a:solidFill>
                  <a:srgbClr val="20292D"/>
                </a:solidFill>
                <a:latin typeface="DejaVu Sans"/>
              </a:defRPr>
            </a:pPr>
            <a:r>
              <a:t>4.004733 mm²</a:t>
            </a:r>
          </a:p>
        </p:txBody>
      </p:sp>
      <p:sp>
        <p:nvSpPr>
          <p:cNvPr id="17" name="TextBox 16"/>
          <p:cNvSpPr txBox="1"/>
          <p:nvPr/>
        </p:nvSpPr>
        <p:spPr>
          <a:xfrm>
            <a:off x="5486400" y="3913632"/>
            <a:ext cx="5760720" cy="384048"/>
          </a:xfrm>
          <a:prstGeom prst="rect">
            <a:avLst/>
          </a:prstGeom>
          <a:noFill/>
        </p:spPr>
        <p:txBody>
          <a:bodyPr wrap="square" lIns="9144" rIns="9144" tIns="13716" bIns="13716" anchor="t">
            <a:spAutoFit/>
          </a:bodyPr>
          <a:lstStyle/>
          <a:p>
            <a:pPr algn="l">
              <a:lnSpc>
                <a:spcPct val="110000"/>
              </a:lnSpc>
              <a:spcBef>
                <a:spcPts val="0"/>
              </a:spcBef>
              <a:spcAft>
                <a:spcPts val="500"/>
              </a:spcAft>
              <a:defRPr sz="2100" b="0">
                <a:solidFill>
                  <a:srgbClr val="566469"/>
                </a:solidFill>
                <a:latin typeface="DejaVu Sans"/>
              </a:defRPr>
            </a:pPr>
            <a:r>
              <a:t>total Liberty cell-area sum</a:t>
            </a:r>
          </a:p>
        </p:txBody>
      </p:sp>
      <p:sp>
        <p:nvSpPr>
          <p:cNvPr id="18" name="Rectangle 17"/>
          <p:cNvSpPr/>
          <p:nvPr/>
        </p:nvSpPr>
        <p:spPr>
          <a:xfrm>
            <a:off x="694944" y="4581144"/>
            <a:ext cx="9058662" cy="429768"/>
          </a:xfrm>
          <a:prstGeom prst="rect">
            <a:avLst/>
          </a:prstGeom>
          <a:solidFill>
            <a:srgbClr val="CE5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753606" y="4581144"/>
            <a:ext cx="1749545" cy="429768"/>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5138928"/>
            <a:ext cx="6583680" cy="356616"/>
          </a:xfrm>
          <a:prstGeom prst="rect">
            <a:avLst/>
          </a:prstGeom>
          <a:noFill/>
        </p:spPr>
        <p:txBody>
          <a:bodyPr wrap="square" lIns="9144" rIns="9144" tIns="13716" bIns="13716" anchor="t">
            <a:spAutoFit/>
          </a:bodyPr>
          <a:lstStyle/>
          <a:p>
            <a:pPr algn="l">
              <a:lnSpc>
                <a:spcPct val="110000"/>
              </a:lnSpc>
              <a:spcBef>
                <a:spcPts val="0"/>
              </a:spcBef>
              <a:spcAft>
                <a:spcPts val="500"/>
              </a:spcAft>
              <a:defRPr sz="1800" b="1">
                <a:solidFill>
                  <a:srgbClr val="CE594B"/>
                </a:solidFill>
                <a:latin typeface="DejaVu Sans"/>
              </a:defRPr>
            </a:pPr>
            <a:r>
              <a:t>SRAM: 3.356479 mm² (83.8%)</a:t>
            </a:r>
          </a:p>
        </p:txBody>
      </p:sp>
      <p:sp>
        <p:nvSpPr>
          <p:cNvPr id="21" name="TextBox 20"/>
          <p:cNvSpPr txBox="1"/>
          <p:nvPr/>
        </p:nvSpPr>
        <p:spPr>
          <a:xfrm>
            <a:off x="7543800" y="5138928"/>
            <a:ext cx="4005072" cy="356616"/>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3279A3"/>
                </a:solidFill>
                <a:latin typeface="DejaVu Sans"/>
              </a:defRPr>
            </a:pPr>
            <a:r>
              <a:t>Standard cells: 0.648254 mm²</a:t>
            </a:r>
          </a:p>
        </p:txBody>
      </p:sp>
      <p:sp>
        <p:nvSpPr>
          <p:cNvPr id="22" name="Rectangle 21"/>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450" b="1">
                <a:solidFill>
                  <a:srgbClr val="087F72"/>
                </a:solidFill>
                <a:latin typeface="DejaVu Sans"/>
              </a:defRPr>
            </a:pPr>
            <a:r>
              <a:t>55,694 flip-flops + 1 latch are included in standard cells. Unmapped cells / memories / processes: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LIMITS AND RISKS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What is not proven yet</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Successful elaboration, tests and mapping are milestones, not chip signoff.</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20</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reports/simulation/README.md</a:t>
            </a:r>
          </a:p>
        </p:txBody>
      </p:sp>
      <p:sp>
        <p:nvSpPr>
          <p:cNvPr id="10" name="Rectangle 9"/>
          <p:cNvSpPr/>
          <p:nvPr/>
        </p:nvSpPr>
        <p:spPr>
          <a:xfrm>
            <a:off x="594360" y="1837943"/>
            <a:ext cx="11009376" cy="512064"/>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29384"/>
            <a:ext cx="2706624"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AREA</a:t>
            </a:r>
          </a:p>
        </p:txBody>
      </p:sp>
      <p:sp>
        <p:nvSpPr>
          <p:cNvPr id="12" name="TextBox 11"/>
          <p:cNvSpPr txBox="1"/>
          <p:nvPr/>
        </p:nvSpPr>
        <p:spPr>
          <a:xfrm>
            <a:off x="3611880" y="1929384"/>
            <a:ext cx="7900415" cy="40233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REMAINING WORK / BOUNDARY</a:t>
            </a:r>
          </a:p>
        </p:txBody>
      </p:sp>
      <p:sp>
        <p:nvSpPr>
          <p:cNvPr id="13" name="Rectangle 12"/>
          <p:cNvSpPr/>
          <p:nvPr/>
        </p:nvSpPr>
        <p:spPr>
          <a:xfrm>
            <a:off x="594360" y="2350008"/>
            <a:ext cx="11009376"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432303"/>
            <a:ext cx="270662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Clock and timing</a:t>
            </a:r>
          </a:p>
        </p:txBody>
      </p:sp>
      <p:sp>
        <p:nvSpPr>
          <p:cNvPr id="15" name="TextBox 14"/>
          <p:cNvSpPr txBox="1"/>
          <p:nvPr/>
        </p:nvSpPr>
        <p:spPr>
          <a:xfrm>
            <a:off x="3611880" y="2432303"/>
            <a:ext cx="7900415"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500 MHz is nominal intent, not achieved CPU frequency.</a:t>
            </a:r>
          </a:p>
        </p:txBody>
      </p:sp>
      <p:sp>
        <p:nvSpPr>
          <p:cNvPr id="16" name="Rectangle 15"/>
          <p:cNvSpPr/>
          <p:nvPr/>
        </p:nvSpPr>
        <p:spPr>
          <a:xfrm>
            <a:off x="594360" y="2862072"/>
            <a:ext cx="11009376" cy="512064"/>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44368"/>
            <a:ext cx="270662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Physical design</a:t>
            </a:r>
          </a:p>
        </p:txBody>
      </p:sp>
      <p:sp>
        <p:nvSpPr>
          <p:cNvPr id="18" name="TextBox 17"/>
          <p:cNvSpPr txBox="1"/>
          <p:nvPr/>
        </p:nvSpPr>
        <p:spPr>
          <a:xfrm>
            <a:off x="3611880" y="2944368"/>
            <a:ext cx="7900415"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No placement, routing, power analysis or DRC/LVS.</a:t>
            </a:r>
          </a:p>
        </p:txBody>
      </p:sp>
      <p:sp>
        <p:nvSpPr>
          <p:cNvPr id="19" name="Rectangle 18"/>
          <p:cNvSpPr/>
          <p:nvPr/>
        </p:nvSpPr>
        <p:spPr>
          <a:xfrm>
            <a:off x="594360" y="3374136"/>
            <a:ext cx="11009376"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56432"/>
            <a:ext cx="270662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Functional closure</a:t>
            </a:r>
          </a:p>
        </p:txBody>
      </p:sp>
      <p:sp>
        <p:nvSpPr>
          <p:cNvPr id="21" name="TextBox 20"/>
          <p:cNvSpPr txBox="1"/>
          <p:nvPr/>
        </p:nvSpPr>
        <p:spPr>
          <a:xfrm>
            <a:off x="3611880" y="3456432"/>
            <a:ext cx="7900415"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No exhaustive coherence, formal proof or coverage percentage.</a:t>
            </a:r>
          </a:p>
        </p:txBody>
      </p:sp>
      <p:sp>
        <p:nvSpPr>
          <p:cNvPr id="22" name="Rectangle 21"/>
          <p:cNvSpPr/>
          <p:nvPr/>
        </p:nvSpPr>
        <p:spPr>
          <a:xfrm>
            <a:off x="594360" y="3886200"/>
            <a:ext cx="11009376" cy="512064"/>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968496"/>
            <a:ext cx="270662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Software / debug</a:t>
            </a:r>
          </a:p>
        </p:txBody>
      </p:sp>
      <p:sp>
        <p:nvSpPr>
          <p:cNvPr id="24" name="TextBox 23"/>
          <p:cNvSpPr txBox="1"/>
          <p:nvPr/>
        </p:nvSpPr>
        <p:spPr>
          <a:xfrm>
            <a:off x="3611880" y="3968496"/>
            <a:ext cx="7900415"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Linux boot and full JTAG/OpenOCD workflows not tested.</a:t>
            </a:r>
          </a:p>
        </p:txBody>
      </p:sp>
      <p:sp>
        <p:nvSpPr>
          <p:cNvPr id="25" name="Rectangle 24"/>
          <p:cNvSpPr/>
          <p:nvPr/>
        </p:nvSpPr>
        <p:spPr>
          <a:xfrm>
            <a:off x="594360" y="4398264"/>
            <a:ext cx="11009376"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480560"/>
            <a:ext cx="270662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Serial and reset</a:t>
            </a:r>
          </a:p>
        </p:txBody>
      </p:sp>
      <p:sp>
        <p:nvSpPr>
          <p:cNvPr id="27" name="TextBox 26"/>
          <p:cNvSpPr txBox="1"/>
          <p:nvPr/>
        </p:nvSpPr>
        <p:spPr>
          <a:xfrm>
            <a:off x="3611880" y="4480560"/>
            <a:ext cx="7900415"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Heavy-traffic serial-PHY warning; reset-domain review needed.</a:t>
            </a:r>
          </a:p>
        </p:txBody>
      </p:sp>
      <p:sp>
        <p:nvSpPr>
          <p:cNvPr id="28" name="Rectangle 27"/>
          <p:cNvSpPr/>
          <p:nvPr/>
        </p:nvSpPr>
        <p:spPr>
          <a:xfrm>
            <a:off x="594360" y="4910328"/>
            <a:ext cx="11009376" cy="512064"/>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992624"/>
            <a:ext cx="2706624"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Mapped behavior</a:t>
            </a:r>
          </a:p>
        </p:txBody>
      </p:sp>
      <p:sp>
        <p:nvSpPr>
          <p:cNvPr id="30" name="TextBox 29"/>
          <p:cNvSpPr txBox="1"/>
          <p:nvPr/>
        </p:nvSpPr>
        <p:spPr>
          <a:xfrm>
            <a:off x="3611880" y="4992624"/>
            <a:ext cx="7900415" cy="420624"/>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No full-SoC SRAM-mapped gate-level regression.</a:t>
            </a:r>
          </a:p>
        </p:txBody>
      </p:sp>
      <p:sp>
        <p:nvSpPr>
          <p:cNvPr id="31" name="Rectangle 30"/>
          <p:cNvSpPr/>
          <p:nvPr/>
        </p:nvSpPr>
        <p:spPr>
          <a:xfrm>
            <a:off x="502920" y="5696712"/>
            <a:ext cx="11183112" cy="502920"/>
          </a:xfrm>
          <a:prstGeom prst="rect">
            <a:avLst/>
          </a:prstGeom>
          <a:solidFill>
            <a:srgbClr val="F9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CE594B"/>
                </a:solidFill>
                <a:latin typeface="DejaVu Sans"/>
              </a:defRPr>
            </a:pPr>
            <a:r>
              <a:t>Report the design as a verified experiment with explicit limits, not a production-ready ASIC.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NEXT EXPERIMENTS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How to try the next SoC configuration</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Proposed work only. None of these changes is included in the current generated SoC.</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21</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 | SOC.md</a:t>
            </a:r>
          </a:p>
        </p:txBody>
      </p:sp>
      <p:sp>
        <p:nvSpPr>
          <p:cNvPr id="10" name="Rectangle 9"/>
          <p:cNvSpPr/>
          <p:nvPr/>
        </p:nvSpPr>
        <p:spPr>
          <a:xfrm>
            <a:off x="612648" y="1874519"/>
            <a:ext cx="5294376" cy="151790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1874519"/>
            <a:ext cx="50292" cy="1517904"/>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993391"/>
            <a:ext cx="5020056"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087F72"/>
                </a:solidFill>
                <a:latin typeface="DejaVu Sans"/>
              </a:defRPr>
            </a:pPr>
            <a:r>
              <a:t>OPTION A: CORE / CACHE</a:t>
            </a:r>
          </a:p>
        </p:txBody>
      </p:sp>
      <p:sp>
        <p:nvSpPr>
          <p:cNvPr id="13" name="TextBox 12"/>
          <p:cNvSpPr txBox="1"/>
          <p:nvPr/>
        </p:nvSpPr>
        <p:spPr>
          <a:xfrm>
            <a:off x="758952" y="2450591"/>
            <a:ext cx="5020056" cy="868680"/>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Change core count or cache geometry.</a:t>
            </a:r>
          </a:p>
          <a:p>
            <a:pPr algn="l">
              <a:lnSpc>
                <a:spcPct val="110000"/>
              </a:lnSpc>
              <a:spcBef>
                <a:spcPts val="0"/>
              </a:spcBef>
              <a:spcAft>
                <a:spcPts val="500"/>
              </a:spcAft>
              <a:defRPr sz="1600" b="0">
                <a:solidFill>
                  <a:srgbClr val="566469"/>
                </a:solidFill>
                <a:latin typeface="DejaVu Sans"/>
              </a:defRPr>
            </a:pPr>
            <a:r>
              <a:t>Recheck coherence clients and SRAM shapes.</a:t>
            </a:r>
          </a:p>
        </p:txBody>
      </p:sp>
      <p:sp>
        <p:nvSpPr>
          <p:cNvPr id="14" name="Rectangle 13"/>
          <p:cNvSpPr/>
          <p:nvPr/>
        </p:nvSpPr>
        <p:spPr>
          <a:xfrm>
            <a:off x="6263640" y="1874519"/>
            <a:ext cx="5294376" cy="1517904"/>
          </a:xfrm>
          <a:prstGeom prst="rect">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874519"/>
            <a:ext cx="50292" cy="1517904"/>
          </a:xfrm>
          <a:prstGeom prst="rect">
            <a:avLst/>
          </a:prstGeom>
          <a:solidFill>
            <a:srgbClr val="327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993391"/>
            <a:ext cx="5020056"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3279A3"/>
                </a:solidFill>
                <a:latin typeface="DejaVu Sans"/>
              </a:defRPr>
            </a:pPr>
            <a:r>
              <a:t>OPTION B: FFT ACCELERATOR</a:t>
            </a:r>
          </a:p>
        </p:txBody>
      </p:sp>
      <p:sp>
        <p:nvSpPr>
          <p:cNvPr id="17" name="TextBox 16"/>
          <p:cNvSpPr txBox="1"/>
          <p:nvPr/>
        </p:nvSpPr>
        <p:spPr>
          <a:xfrm>
            <a:off x="6409944" y="2450591"/>
            <a:ext cx="5020056" cy="868680"/>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Integrate the optional generator.</a:t>
            </a:r>
          </a:p>
          <a:p>
            <a:pPr algn="l">
              <a:lnSpc>
                <a:spcPct val="110000"/>
              </a:lnSpc>
              <a:spcBef>
                <a:spcPts val="0"/>
              </a:spcBef>
              <a:spcAft>
                <a:spcPts val="500"/>
              </a:spcAft>
              <a:defRPr sz="1600" b="0">
                <a:solidFill>
                  <a:srgbClr val="566469"/>
                </a:solidFill>
                <a:latin typeface="DejaVu Sans"/>
              </a:defRPr>
            </a:pPr>
            <a:r>
              <a:t>Define interface and numerical tests.</a:t>
            </a:r>
          </a:p>
        </p:txBody>
      </p:sp>
      <p:sp>
        <p:nvSpPr>
          <p:cNvPr id="18" name="Rectangle 17"/>
          <p:cNvSpPr/>
          <p:nvPr/>
        </p:nvSpPr>
        <p:spPr>
          <a:xfrm>
            <a:off x="694944" y="3959352"/>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40480"/>
            <a:ext cx="10524744"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Use a new named Config and preserve this baseline.</a:t>
            </a:r>
          </a:p>
        </p:txBody>
      </p:sp>
      <p:sp>
        <p:nvSpPr>
          <p:cNvPr id="20" name="Rectangle 19"/>
          <p:cNvSpPr/>
          <p:nvPr/>
        </p:nvSpPr>
        <p:spPr>
          <a:xfrm>
            <a:off x="694944" y="4535424"/>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416552"/>
            <a:ext cx="10524744"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Regenerate RTL, device tree, memory map and SRAM inventory.</a:t>
            </a:r>
          </a:p>
        </p:txBody>
      </p:sp>
      <p:sp>
        <p:nvSpPr>
          <p:cNvPr id="22" name="Rectangle 21"/>
          <p:cNvSpPr/>
          <p:nvPr/>
        </p:nvSpPr>
        <p:spPr>
          <a:xfrm>
            <a:off x="694944" y="5111496"/>
            <a:ext cx="64008" cy="64008"/>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92624"/>
            <a:ext cx="10524744" cy="502920"/>
          </a:xfrm>
          <a:prstGeom prst="rect">
            <a:avLst/>
          </a:prstGeom>
          <a:noFill/>
        </p:spPr>
        <p:txBody>
          <a:bodyPr wrap="square" lIns="9144" rIns="9144" tIns="13716" bIns="13716" anchor="t">
            <a:spAutoFit/>
          </a:bodyPr>
          <a:lstStyle/>
          <a:p>
            <a:pPr algn="l">
              <a:lnSpc>
                <a:spcPct val="110000"/>
              </a:lnSpc>
              <a:spcBef>
                <a:spcPts val="0"/>
              </a:spcBef>
              <a:spcAft>
                <a:spcPts val="500"/>
              </a:spcAft>
              <a:defRPr sz="2000" b="0">
                <a:solidFill>
                  <a:srgbClr val="20292D"/>
                </a:solidFill>
                <a:latin typeface="DejaVu Sans"/>
              </a:defRPr>
            </a:pPr>
            <a:r>
              <a:t>Add targeted software tests, then rerun lint and full-SoC synthesis.</a:t>
            </a:r>
          </a:p>
        </p:txBody>
      </p:sp>
      <p:sp>
        <p:nvSpPr>
          <p:cNvPr id="24" name="Rectangle 23"/>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450" b="1">
                <a:solidFill>
                  <a:srgbClr val="087F72"/>
                </a:solidFill>
                <a:latin typeface="DejaVu Sans"/>
              </a:defRPr>
            </a:pPr>
            <a:r>
              <a:t>Choose the workload first; compare new designs with the same tools and explicit acceptance criteria.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REPRODUCTION</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Where the reproducible process lives</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The results repository is not a complete toolchain or a vendored Chipyard checkout.</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22</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 | scripts/dual-rocket/README.md</a:t>
            </a:r>
          </a:p>
        </p:txBody>
      </p:sp>
      <p:sp>
        <p:nvSpPr>
          <p:cNvPr id="10" name="Rectangle 9"/>
          <p:cNvSpPr/>
          <p:nvPr/>
        </p:nvSpPr>
        <p:spPr>
          <a:xfrm>
            <a:off x="630936" y="1865376"/>
            <a:ext cx="10972800" cy="1773936"/>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03120"/>
            <a:ext cx="10469880" cy="1316736"/>
          </a:xfrm>
          <a:prstGeom prst="rect">
            <a:avLst/>
          </a:prstGeom>
          <a:noFill/>
        </p:spPr>
        <p:txBody>
          <a:bodyPr wrap="square" lIns="9144" rIns="9144" tIns="13716" bIns="13716" anchor="t">
            <a:spAutoFit/>
          </a:bodyPr>
          <a:lstStyle/>
          <a:p>
            <a:pPr algn="l">
              <a:lnSpc>
                <a:spcPct val="110000"/>
              </a:lnSpc>
              <a:spcBef>
                <a:spcPts val="0"/>
              </a:spcBef>
              <a:spcAft>
                <a:spcPts val="500"/>
              </a:spcAft>
              <a:defRPr sz="2200" b="0">
                <a:solidFill>
                  <a:srgbClr val="FFFFFF"/>
                </a:solidFill>
                <a:latin typeface="DejaVu Sans Mono"/>
              </a:defRPr>
            </a:pPr>
            <a:r>
              <a:t>bash scripts/dual-rocket/generate.sh</a:t>
            </a:r>
          </a:p>
          <a:p>
            <a:pPr algn="l">
              <a:lnSpc>
                <a:spcPct val="110000"/>
              </a:lnSpc>
              <a:spcBef>
                <a:spcPts val="0"/>
              </a:spcBef>
              <a:spcAft>
                <a:spcPts val="500"/>
              </a:spcAft>
              <a:defRPr sz="2200" b="0">
                <a:solidFill>
                  <a:srgbClr val="FFFFFF"/>
                </a:solidFill>
                <a:latin typeface="DejaVu Sans Mono"/>
              </a:defRPr>
            </a:pPr>
            <a:r>
              <a:t>bash scripts/dual-rocket/lint/run.sh</a:t>
            </a:r>
          </a:p>
          <a:p>
            <a:pPr algn="l">
              <a:lnSpc>
                <a:spcPct val="110000"/>
              </a:lnSpc>
              <a:spcBef>
                <a:spcPts val="0"/>
              </a:spcBef>
              <a:spcAft>
                <a:spcPts val="500"/>
              </a:spcAft>
              <a:defRPr sz="2200" b="0">
                <a:solidFill>
                  <a:srgbClr val="FFFFFF"/>
                </a:solidFill>
                <a:latin typeface="DejaVu Sans Mono"/>
              </a:defRPr>
            </a:pPr>
            <a:r>
              <a:t>bash scripts/dual-rocket/synthesis/run.sh</a:t>
            </a:r>
          </a:p>
        </p:txBody>
      </p:sp>
      <p:sp>
        <p:nvSpPr>
          <p:cNvPr id="12" name="TextBox 11"/>
          <p:cNvSpPr txBox="1"/>
          <p:nvPr/>
        </p:nvSpPr>
        <p:spPr>
          <a:xfrm>
            <a:off x="667512" y="3977639"/>
            <a:ext cx="5376672" cy="338328"/>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087F72"/>
                </a:solidFill>
                <a:latin typeface="DejaVu Sans"/>
              </a:defRPr>
            </a:pPr>
            <a:r>
              <a:t>Architecture + process</a:t>
            </a:r>
          </a:p>
        </p:txBody>
      </p:sp>
      <p:sp>
        <p:nvSpPr>
          <p:cNvPr id="13" name="TextBox 12"/>
          <p:cNvSpPr txBox="1"/>
          <p:nvPr/>
        </p:nvSpPr>
        <p:spPr>
          <a:xfrm>
            <a:off x="685800" y="4517136"/>
            <a:ext cx="5605272" cy="850392"/>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Mono"/>
              </a:defRPr>
            </a:pPr>
            <a:r>
              <a:t>docs/dual-rocket/CONFIGURATION.md</a:t>
            </a:r>
          </a:p>
          <a:p>
            <a:pPr algn="l">
              <a:lnSpc>
                <a:spcPct val="110000"/>
              </a:lnSpc>
              <a:spcBef>
                <a:spcPts val="0"/>
              </a:spcBef>
              <a:spcAft>
                <a:spcPts val="500"/>
              </a:spcAft>
              <a:defRPr sz="1600" b="0">
                <a:solidFill>
                  <a:srgbClr val="566469"/>
                </a:solidFill>
                <a:latin typeface="DejaVu Sans Mono"/>
              </a:defRPr>
            </a:pPr>
            <a:r>
              <a:t>docs/dual-rocket/SOC.md</a:t>
            </a:r>
          </a:p>
        </p:txBody>
      </p:sp>
      <p:sp>
        <p:nvSpPr>
          <p:cNvPr id="14" name="TextBox 13"/>
          <p:cNvSpPr txBox="1"/>
          <p:nvPr/>
        </p:nvSpPr>
        <p:spPr>
          <a:xfrm>
            <a:off x="6473952" y="3977639"/>
            <a:ext cx="5010912" cy="338328"/>
          </a:xfrm>
          <a:prstGeom prst="rect">
            <a:avLst/>
          </a:prstGeom>
          <a:noFill/>
        </p:spPr>
        <p:txBody>
          <a:bodyPr wrap="square" lIns="9144" rIns="9144" tIns="13716" bIns="13716" anchor="t">
            <a:spAutoFit/>
          </a:bodyPr>
          <a:lstStyle/>
          <a:p>
            <a:pPr algn="l">
              <a:lnSpc>
                <a:spcPct val="110000"/>
              </a:lnSpc>
              <a:spcBef>
                <a:spcPts val="0"/>
              </a:spcBef>
              <a:spcAft>
                <a:spcPts val="500"/>
              </a:spcAft>
              <a:defRPr sz="1900" b="1">
                <a:solidFill>
                  <a:srgbClr val="3279A3"/>
                </a:solidFill>
                <a:latin typeface="DejaVu Sans"/>
              </a:defRPr>
            </a:pPr>
            <a:r>
              <a:t>Evidence + portable scripts</a:t>
            </a:r>
          </a:p>
        </p:txBody>
      </p:sp>
      <p:sp>
        <p:nvSpPr>
          <p:cNvPr id="15" name="TextBox 14"/>
          <p:cNvSpPr txBox="1"/>
          <p:nvPr/>
        </p:nvSpPr>
        <p:spPr>
          <a:xfrm>
            <a:off x="6492240" y="4517136"/>
            <a:ext cx="4983480" cy="850392"/>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Mono"/>
              </a:defRPr>
            </a:pPr>
            <a:r>
              <a:t>docs/dual-rocket/reports/</a:t>
            </a:r>
          </a:p>
          <a:p>
            <a:pPr algn="l">
              <a:lnSpc>
                <a:spcPct val="110000"/>
              </a:lnSpc>
              <a:spcBef>
                <a:spcPts val="0"/>
              </a:spcBef>
              <a:spcAft>
                <a:spcPts val="500"/>
              </a:spcAft>
              <a:defRPr sz="1600" b="0">
                <a:solidFill>
                  <a:srgbClr val="566469"/>
                </a:solidFill>
                <a:latin typeface="DejaVu Sans Mono"/>
              </a:defRPr>
            </a:pPr>
            <a:r>
              <a:t>scripts/dual-rocket/README.md</a:t>
            </a:r>
          </a:p>
        </p:txBody>
      </p:sp>
      <p:sp>
        <p:nvSpPr>
          <p:cNvPr id="16" name="Rectangle 15"/>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087F72"/>
                </a:solidFill>
                <a:latin typeface="DejaVu Sans"/>
              </a:defRPr>
            </a:pPr>
            <a:r>
              <a:t>Important: the top-level rtl/ folder is historical single-core RTL, not this dual-core build.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APPENDIX | VERSIONS</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Pinned tools and source provenance</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Versions describe the recorded experiment; this is not a recommendation to use arbitrary latest builds.</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23</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CONFIGURATION.md | reports/simulation/README.md</a:t>
            </a:r>
          </a:p>
        </p:txBody>
      </p:sp>
      <p:sp>
        <p:nvSpPr>
          <p:cNvPr id="10" name="Rectangle 9"/>
          <p:cNvSpPr/>
          <p:nvPr/>
        </p:nvSpPr>
        <p:spPr>
          <a:xfrm>
            <a:off x="594360" y="1828800"/>
            <a:ext cx="11009376" cy="466344"/>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20240"/>
            <a:ext cx="2999232" cy="35661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FFFFFF"/>
                </a:solidFill>
                <a:latin typeface="DejaVu Sans"/>
              </a:defRPr>
            </a:pPr>
            <a:r>
              <a:t>LAYER</a:t>
            </a:r>
          </a:p>
        </p:txBody>
      </p:sp>
      <p:sp>
        <p:nvSpPr>
          <p:cNvPr id="12" name="TextBox 11"/>
          <p:cNvSpPr txBox="1"/>
          <p:nvPr/>
        </p:nvSpPr>
        <p:spPr>
          <a:xfrm>
            <a:off x="3904488" y="1920240"/>
            <a:ext cx="7607807" cy="35661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FFFFFF"/>
                </a:solidFill>
                <a:latin typeface="DejaVu Sans"/>
              </a:defRPr>
            </a:pPr>
            <a:r>
              <a:t>RECORDED INPUT</a:t>
            </a:r>
          </a:p>
        </p:txBody>
      </p:sp>
      <p:sp>
        <p:nvSpPr>
          <p:cNvPr id="13" name="Rectangle 12"/>
          <p:cNvSpPr/>
          <p:nvPr/>
        </p:nvSpPr>
        <p:spPr>
          <a:xfrm>
            <a:off x="594360" y="2295144"/>
            <a:ext cx="11009376"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377439"/>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Chipyard / Rocket Chip</a:t>
            </a:r>
          </a:p>
        </p:txBody>
      </p:sp>
      <p:sp>
        <p:nvSpPr>
          <p:cNvPr id="15" name="TextBox 14"/>
          <p:cNvSpPr txBox="1"/>
          <p:nvPr/>
        </p:nvSpPr>
        <p:spPr>
          <a:xfrm>
            <a:off x="3904488" y="2377439"/>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e602d917dcc4 / 55bcad0f5943 (full SHA in notes)</a:t>
            </a:r>
          </a:p>
        </p:txBody>
      </p:sp>
      <p:sp>
        <p:nvSpPr>
          <p:cNvPr id="16" name="Rectangle 15"/>
          <p:cNvSpPr/>
          <p:nvPr/>
        </p:nvSpPr>
        <p:spPr>
          <a:xfrm>
            <a:off x="594360" y="2761488"/>
            <a:ext cx="11009376" cy="466344"/>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843784"/>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Generator stack</a:t>
            </a:r>
          </a:p>
        </p:txBody>
      </p:sp>
      <p:sp>
        <p:nvSpPr>
          <p:cNvPr id="18" name="TextBox 17"/>
          <p:cNvSpPr txBox="1"/>
          <p:nvPr/>
        </p:nvSpPr>
        <p:spPr>
          <a:xfrm>
            <a:off x="3904488" y="2843784"/>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Chisel 6.7.0; Scala 2.13.16; firtool 1.75.0</a:t>
            </a:r>
          </a:p>
        </p:txBody>
      </p:sp>
      <p:sp>
        <p:nvSpPr>
          <p:cNvPr id="19" name="Rectangle 18"/>
          <p:cNvSpPr/>
          <p:nvPr/>
        </p:nvSpPr>
        <p:spPr>
          <a:xfrm>
            <a:off x="594360" y="3227832"/>
            <a:ext cx="11009376"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310128"/>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Java</a:t>
            </a:r>
          </a:p>
        </p:txBody>
      </p:sp>
      <p:sp>
        <p:nvSpPr>
          <p:cNvPr id="21" name="TextBox 20"/>
          <p:cNvSpPr txBox="1"/>
          <p:nvPr/>
        </p:nvSpPr>
        <p:spPr>
          <a:xfrm>
            <a:off x="3904488" y="3310128"/>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OpenJDK 20.0.2-internal</a:t>
            </a:r>
          </a:p>
        </p:txBody>
      </p:sp>
      <p:sp>
        <p:nvSpPr>
          <p:cNvPr id="22" name="Rectangle 21"/>
          <p:cNvSpPr/>
          <p:nvPr/>
        </p:nvSpPr>
        <p:spPr>
          <a:xfrm>
            <a:off x="594360" y="3694176"/>
            <a:ext cx="11009376" cy="466344"/>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776472"/>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RTL simulation</a:t>
            </a:r>
          </a:p>
        </p:txBody>
      </p:sp>
      <p:sp>
        <p:nvSpPr>
          <p:cNvPr id="24" name="TextBox 23"/>
          <p:cNvSpPr txBox="1"/>
          <p:nvPr/>
        </p:nvSpPr>
        <p:spPr>
          <a:xfrm>
            <a:off x="3904488" y="3776472"/>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Verilator 5.022; DRAMSim2; matched Spike</a:t>
            </a:r>
          </a:p>
        </p:txBody>
      </p:sp>
      <p:sp>
        <p:nvSpPr>
          <p:cNvPr id="25" name="Rectangle 24"/>
          <p:cNvSpPr/>
          <p:nvPr/>
        </p:nvSpPr>
        <p:spPr>
          <a:xfrm>
            <a:off x="594360" y="4160520"/>
            <a:ext cx="11009376"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242816"/>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Lint</a:t>
            </a:r>
          </a:p>
        </p:txBody>
      </p:sp>
      <p:sp>
        <p:nvSpPr>
          <p:cNvPr id="27" name="TextBox 26"/>
          <p:cNvSpPr txBox="1"/>
          <p:nvPr/>
        </p:nvSpPr>
        <p:spPr>
          <a:xfrm>
            <a:off x="3904488" y="4242816"/>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Verilator 5.051 devel; slang 11.0.448</a:t>
            </a:r>
          </a:p>
        </p:txBody>
      </p:sp>
      <p:sp>
        <p:nvSpPr>
          <p:cNvPr id="28" name="Rectangle 27"/>
          <p:cNvSpPr/>
          <p:nvPr/>
        </p:nvSpPr>
        <p:spPr>
          <a:xfrm>
            <a:off x="594360" y="4626864"/>
            <a:ext cx="11009376" cy="466344"/>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709160"/>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550" b="1">
                <a:solidFill>
                  <a:srgbClr val="20292D"/>
                </a:solidFill>
                <a:latin typeface="DejaVu Sans"/>
              </a:defRPr>
            </a:pPr>
            <a:r>
              <a:t>Mapping / memory checks</a:t>
            </a:r>
          </a:p>
        </p:txBody>
      </p:sp>
      <p:sp>
        <p:nvSpPr>
          <p:cNvPr id="30" name="TextBox 29"/>
          <p:cNvSpPr txBox="1"/>
          <p:nvPr/>
        </p:nvSpPr>
        <p:spPr>
          <a:xfrm>
            <a:off x="3904488" y="4709160"/>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Yosys 0.68+195; ABC; Icarus Verilog 14.0 devel</a:t>
            </a:r>
          </a:p>
        </p:txBody>
      </p:sp>
      <p:sp>
        <p:nvSpPr>
          <p:cNvPr id="31" name="Rectangle 30"/>
          <p:cNvSpPr/>
          <p:nvPr/>
        </p:nvSpPr>
        <p:spPr>
          <a:xfrm>
            <a:off x="594360" y="5093208"/>
            <a:ext cx="11009376"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5175504"/>
            <a:ext cx="2999232"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20292D"/>
                </a:solidFill>
                <a:latin typeface="DejaVu Sans"/>
              </a:defRPr>
            </a:pPr>
            <a:r>
              <a:t>Netlist link / libraries</a:t>
            </a:r>
          </a:p>
        </p:txBody>
      </p:sp>
      <p:sp>
        <p:nvSpPr>
          <p:cNvPr id="33" name="TextBox 32"/>
          <p:cNvSpPr txBox="1"/>
          <p:nvPr/>
        </p:nvSpPr>
        <p:spPr>
          <a:xfrm>
            <a:off x="3904488" y="5175504"/>
            <a:ext cx="7607807"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20292D"/>
                </a:solidFill>
                <a:latin typeface="DejaVu Sans"/>
              </a:defRPr>
            </a:pPr>
            <a:r>
              <a:t>OpenROAD v2.0-17598; pinned ORFS Nangate45 / fakeram45</a:t>
            </a:r>
          </a:p>
        </p:txBody>
      </p:sp>
      <p:sp>
        <p:nvSpPr>
          <p:cNvPr id="34" name="Rectangle 33"/>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087F72"/>
                </a:solidFill>
                <a:latin typeface="DejaVu Sans"/>
              </a:defRPr>
            </a:pPr>
            <a:r>
              <a:t>476 RTL source hashes preserved; all 500 captured synthesis input hashes rechecked unchanged.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8F7"/>
        </a:solidFill>
        <a:effectLst/>
      </p:bgPr>
    </p:bg>
    <p:spTree>
      <p:nvGrpSpPr>
        <p:cNvPr id="1" name=""/>
        <p:cNvGrpSpPr/>
        <p:nvPr/>
      </p:nvGrpSpPr>
      <p:grpSpPr/>
      <p:sp>
        <p:nvSpPr>
          <p:cNvPr id="2" name="Rectangle 1"/>
          <p:cNvSpPr/>
          <p:nvPr/>
        </p:nvSpPr>
        <p:spPr>
          <a:xfrm>
            <a:off x="0" y="0"/>
            <a:ext cx="12191999" cy="73152"/>
          </a:xfrm>
          <a:prstGeom prst="rect">
            <a:avLst/>
          </a:prstGeom>
          <a:solidFill>
            <a:srgbClr val="08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10881360" cy="228600"/>
          </a:xfrm>
          <a:prstGeom prst="rect">
            <a:avLst/>
          </a:prstGeom>
          <a:noFill/>
        </p:spPr>
        <p:txBody>
          <a:bodyPr wrap="square" lIns="9144" rIns="9144" tIns="13716" bIns="13716" anchor="t">
            <a:spAutoFit/>
          </a:bodyPr>
          <a:lstStyle/>
          <a:p>
            <a:pPr algn="l">
              <a:lnSpc>
                <a:spcPct val="110000"/>
              </a:lnSpc>
              <a:spcBef>
                <a:spcPts val="0"/>
              </a:spcBef>
              <a:spcAft>
                <a:spcPts val="500"/>
              </a:spcAft>
              <a:defRPr sz="1000" b="1">
                <a:solidFill>
                  <a:srgbClr val="087F72"/>
                </a:solidFill>
                <a:latin typeface="DejaVu Sans"/>
              </a:defRPr>
            </a:pPr>
            <a:r>
              <a:t>APPENDIX | READING GUIDE</a:t>
            </a:r>
          </a:p>
        </p:txBody>
      </p:sp>
      <p:sp>
        <p:nvSpPr>
          <p:cNvPr id="4" name="TextBox 3"/>
          <p:cNvSpPr txBox="1"/>
          <p:nvPr/>
        </p:nvSpPr>
        <p:spPr>
          <a:xfrm>
            <a:off x="530352" y="704088"/>
            <a:ext cx="11109960" cy="566928"/>
          </a:xfrm>
          <a:prstGeom prst="rect">
            <a:avLst/>
          </a:prstGeom>
          <a:noFill/>
        </p:spPr>
        <p:txBody>
          <a:bodyPr wrap="square" lIns="9144" rIns="9144" tIns="13716" bIns="13716" anchor="t">
            <a:spAutoFit/>
          </a:bodyPr>
          <a:lstStyle/>
          <a:p>
            <a:pPr algn="l">
              <a:lnSpc>
                <a:spcPct val="110000"/>
              </a:lnSpc>
              <a:spcBef>
                <a:spcPts val="0"/>
              </a:spcBef>
              <a:spcAft>
                <a:spcPts val="500"/>
              </a:spcAft>
              <a:defRPr sz="3100" b="1">
                <a:solidFill>
                  <a:srgbClr val="20292D"/>
                </a:solidFill>
                <a:latin typeface="DejaVu Sans"/>
              </a:defRPr>
            </a:pPr>
            <a:r>
              <a:t>Quick glossary and evidence guide</a:t>
            </a:r>
          </a:p>
        </p:txBody>
      </p:sp>
      <p:sp>
        <p:nvSpPr>
          <p:cNvPr id="5" name="TextBox 4"/>
          <p:cNvSpPr txBox="1"/>
          <p:nvPr/>
        </p:nvSpPr>
        <p:spPr>
          <a:xfrm>
            <a:off x="548640" y="1307592"/>
            <a:ext cx="10972800" cy="374904"/>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0">
                <a:solidFill>
                  <a:srgbClr val="566469"/>
                </a:solidFill>
                <a:latin typeface="DejaVu Sans"/>
              </a:defRPr>
            </a:pPr>
            <a:r>
              <a:t>All slides have speaker notes with project-relative source references.</a:t>
            </a:r>
          </a:p>
        </p:txBody>
      </p:sp>
      <p:cxnSp>
        <p:nvCxnSpPr>
          <p:cNvPr id="6" name="Connector 5"/>
          <p:cNvCxnSpPr/>
          <p:nvPr/>
        </p:nvCxnSpPr>
        <p:spPr>
          <a:xfrm>
            <a:off x="530352" y="6437376"/>
            <a:ext cx="11128248" cy="0"/>
          </a:xfrm>
          <a:prstGeom prst="line">
            <a:avLst/>
          </a:prstGeom>
          <a:ln w="8890">
            <a:solidFill>
              <a:srgbClr val="D5DE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528816"/>
            <a:ext cx="6949440" cy="164592"/>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DUAL ROCKET  /  CHIPYARD  /  EVIDENCE: 06 SEP 2026</a:t>
            </a:r>
          </a:p>
        </p:txBody>
      </p:sp>
      <p:sp>
        <p:nvSpPr>
          <p:cNvPr id="8" name="TextBox 7"/>
          <p:cNvSpPr txBox="1"/>
          <p:nvPr/>
        </p:nvSpPr>
        <p:spPr>
          <a:xfrm>
            <a:off x="11036808" y="6501384"/>
            <a:ext cx="585216" cy="228600"/>
          </a:xfrm>
          <a:prstGeom prst="rect">
            <a:avLst/>
          </a:prstGeom>
          <a:noFill/>
        </p:spPr>
        <p:txBody>
          <a:bodyPr wrap="square" lIns="9144" rIns="9144" tIns="13716" bIns="13716" anchor="t">
            <a:spAutoFit/>
          </a:bodyPr>
          <a:lstStyle/>
          <a:p>
            <a:pPr algn="r">
              <a:lnSpc>
                <a:spcPct val="110000"/>
              </a:lnSpc>
              <a:spcBef>
                <a:spcPts val="0"/>
              </a:spcBef>
              <a:spcAft>
                <a:spcPts val="500"/>
              </a:spcAft>
              <a:defRPr sz="1100" b="1">
                <a:solidFill>
                  <a:srgbClr val="087F72"/>
                </a:solidFill>
                <a:latin typeface="DejaVu Sans"/>
              </a:defRPr>
            </a:pPr>
            <a:r>
              <a:t>24</a:t>
            </a:r>
          </a:p>
        </p:txBody>
      </p:sp>
      <p:sp>
        <p:nvSpPr>
          <p:cNvPr id="9" name="TextBox 8"/>
          <p:cNvSpPr txBox="1"/>
          <p:nvPr/>
        </p:nvSpPr>
        <p:spPr>
          <a:xfrm>
            <a:off x="548640" y="6254496"/>
            <a:ext cx="10972800" cy="182880"/>
          </a:xfrm>
          <a:prstGeom prst="rect">
            <a:avLst/>
          </a:prstGeom>
          <a:noFill/>
        </p:spPr>
        <p:txBody>
          <a:bodyPr wrap="square" lIns="9144" rIns="9144" tIns="13716" bIns="13716" anchor="t">
            <a:spAutoFit/>
          </a:bodyPr>
          <a:lstStyle/>
          <a:p>
            <a:pPr algn="l">
              <a:lnSpc>
                <a:spcPct val="110000"/>
              </a:lnSpc>
              <a:spcBef>
                <a:spcPts val="0"/>
              </a:spcBef>
              <a:spcAft>
                <a:spcPts val="500"/>
              </a:spcAft>
              <a:defRPr sz="800" b="0">
                <a:solidFill>
                  <a:srgbClr val="566469"/>
                </a:solidFill>
                <a:latin typeface="DejaVu Sans"/>
              </a:defRPr>
            </a:pPr>
            <a:r>
              <a:t>Evidence: SOC.md | CONFIGURATION.md</a:t>
            </a:r>
          </a:p>
        </p:txBody>
      </p:sp>
      <p:sp>
        <p:nvSpPr>
          <p:cNvPr id="10" name="Rectangle 9"/>
          <p:cNvSpPr/>
          <p:nvPr/>
        </p:nvSpPr>
        <p:spPr>
          <a:xfrm>
            <a:off x="594360" y="1837943"/>
            <a:ext cx="11009376" cy="502920"/>
          </a:xfrm>
          <a:prstGeom prst="rect">
            <a:avLst/>
          </a:prstGeom>
          <a:solidFill>
            <a:srgbClr val="202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29384"/>
            <a:ext cx="2706624"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TERM</a:t>
            </a:r>
          </a:p>
        </p:txBody>
      </p:sp>
      <p:sp>
        <p:nvSpPr>
          <p:cNvPr id="12" name="TextBox 11"/>
          <p:cNvSpPr txBox="1"/>
          <p:nvPr/>
        </p:nvSpPr>
        <p:spPr>
          <a:xfrm>
            <a:off x="3611880" y="1929384"/>
            <a:ext cx="7900415" cy="393192"/>
          </a:xfrm>
          <a:prstGeom prst="rect">
            <a:avLst/>
          </a:prstGeom>
          <a:noFill/>
        </p:spPr>
        <p:txBody>
          <a:bodyPr wrap="square" lIns="9144" rIns="9144" tIns="13716" bIns="13716" anchor="t">
            <a:spAutoFit/>
          </a:bodyPr>
          <a:lstStyle/>
          <a:p>
            <a:pPr algn="l">
              <a:lnSpc>
                <a:spcPct val="110000"/>
              </a:lnSpc>
              <a:spcBef>
                <a:spcPts val="0"/>
              </a:spcBef>
              <a:spcAft>
                <a:spcPts val="500"/>
              </a:spcAft>
              <a:defRPr sz="1600" b="1">
                <a:solidFill>
                  <a:srgbClr val="FFFFFF"/>
                </a:solidFill>
                <a:latin typeface="DejaVu Sans"/>
              </a:defRPr>
            </a:pPr>
            <a:r>
              <a:t>MEANING IN THIS PROJECT</a:t>
            </a:r>
          </a:p>
        </p:txBody>
      </p:sp>
      <p:sp>
        <p:nvSpPr>
          <p:cNvPr id="13" name="Rectangle 12"/>
          <p:cNvSpPr/>
          <p:nvPr/>
        </p:nvSpPr>
        <p:spPr>
          <a:xfrm>
            <a:off x="594360" y="2340863"/>
            <a:ext cx="11009376"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423159"/>
            <a:ext cx="2706624"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SoC / hart</a:t>
            </a:r>
          </a:p>
        </p:txBody>
      </p:sp>
      <p:sp>
        <p:nvSpPr>
          <p:cNvPr id="15" name="TextBox 14"/>
          <p:cNvSpPr txBox="1"/>
          <p:nvPr/>
        </p:nvSpPr>
        <p:spPr>
          <a:xfrm>
            <a:off x="3611880" y="2423159"/>
            <a:ext cx="7900415"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Integrated system / one hardware execution thread</a:t>
            </a:r>
          </a:p>
        </p:txBody>
      </p:sp>
      <p:sp>
        <p:nvSpPr>
          <p:cNvPr id="16" name="Rectangle 15"/>
          <p:cNvSpPr/>
          <p:nvPr/>
        </p:nvSpPr>
        <p:spPr>
          <a:xfrm>
            <a:off x="594360" y="2843784"/>
            <a:ext cx="11009376" cy="502920"/>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26079"/>
            <a:ext cx="2706624"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RTL / Config</a:t>
            </a:r>
          </a:p>
        </p:txBody>
      </p:sp>
      <p:sp>
        <p:nvSpPr>
          <p:cNvPr id="18" name="TextBox 17"/>
          <p:cNvSpPr txBox="1"/>
          <p:nvPr/>
        </p:nvSpPr>
        <p:spPr>
          <a:xfrm>
            <a:off x="3611880" y="2926079"/>
            <a:ext cx="7900415"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Hardware description / generator parameter composition</a:t>
            </a:r>
          </a:p>
        </p:txBody>
      </p:sp>
      <p:sp>
        <p:nvSpPr>
          <p:cNvPr id="19" name="Rectangle 18"/>
          <p:cNvSpPr/>
          <p:nvPr/>
        </p:nvSpPr>
        <p:spPr>
          <a:xfrm>
            <a:off x="594360" y="3346704"/>
            <a:ext cx="11009376"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29000"/>
            <a:ext cx="2706624"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L1 / L2</a:t>
            </a:r>
          </a:p>
        </p:txBody>
      </p:sp>
      <p:sp>
        <p:nvSpPr>
          <p:cNvPr id="21" name="TextBox 20"/>
          <p:cNvSpPr txBox="1"/>
          <p:nvPr/>
        </p:nvSpPr>
        <p:spPr>
          <a:xfrm>
            <a:off x="3611880" y="3429000"/>
            <a:ext cx="7900415"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Private per-core caches / shared inclusive cache</a:t>
            </a:r>
          </a:p>
        </p:txBody>
      </p:sp>
      <p:sp>
        <p:nvSpPr>
          <p:cNvPr id="22" name="Rectangle 21"/>
          <p:cNvSpPr/>
          <p:nvPr/>
        </p:nvSpPr>
        <p:spPr>
          <a:xfrm>
            <a:off x="594360" y="3849624"/>
            <a:ext cx="11009376" cy="502920"/>
          </a:xfrm>
          <a:prstGeom prst="rect">
            <a:avLst/>
          </a:prstGeom>
          <a:solidFill>
            <a:srgbClr val="EB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931920"/>
            <a:ext cx="2706624"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TileLink / AXI4</a:t>
            </a:r>
          </a:p>
        </p:txBody>
      </p:sp>
      <p:sp>
        <p:nvSpPr>
          <p:cNvPr id="24" name="TextBox 23"/>
          <p:cNvSpPr txBox="1"/>
          <p:nvPr/>
        </p:nvSpPr>
        <p:spPr>
          <a:xfrm>
            <a:off x="3611880" y="3931920"/>
            <a:ext cx="7900415"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On-chip fabric / external-memory interface</a:t>
            </a:r>
          </a:p>
        </p:txBody>
      </p:sp>
      <p:sp>
        <p:nvSpPr>
          <p:cNvPr id="25" name="Rectangle 24"/>
          <p:cNvSpPr/>
          <p:nvPr/>
        </p:nvSpPr>
        <p:spPr>
          <a:xfrm>
            <a:off x="594360" y="4352544"/>
            <a:ext cx="11009376"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434840"/>
            <a:ext cx="2706624"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1">
                <a:solidFill>
                  <a:srgbClr val="20292D"/>
                </a:solidFill>
                <a:latin typeface="DejaVu Sans"/>
              </a:defRPr>
            </a:pPr>
            <a:r>
              <a:t>CLINT / PLIC</a:t>
            </a:r>
          </a:p>
        </p:txBody>
      </p:sp>
      <p:sp>
        <p:nvSpPr>
          <p:cNvPr id="27" name="TextBox 26"/>
          <p:cNvSpPr txBox="1"/>
          <p:nvPr/>
        </p:nvSpPr>
        <p:spPr>
          <a:xfrm>
            <a:off x="3611880" y="4434840"/>
            <a:ext cx="7900415" cy="411480"/>
          </a:xfrm>
          <a:prstGeom prst="rect">
            <a:avLst/>
          </a:prstGeom>
          <a:noFill/>
        </p:spPr>
        <p:txBody>
          <a:bodyPr wrap="square" lIns="9144" rIns="9144" tIns="13716" bIns="13716" anchor="t">
            <a:spAutoFit/>
          </a:bodyPr>
          <a:lstStyle/>
          <a:p>
            <a:pPr algn="l">
              <a:lnSpc>
                <a:spcPct val="110000"/>
              </a:lnSpc>
              <a:spcBef>
                <a:spcPts val="0"/>
              </a:spcBef>
              <a:spcAft>
                <a:spcPts val="500"/>
              </a:spcAft>
              <a:defRPr sz="1700" b="0">
                <a:solidFill>
                  <a:srgbClr val="20292D"/>
                </a:solidFill>
                <a:latin typeface="DejaVu Sans"/>
              </a:defRPr>
            </a:pPr>
            <a:r>
              <a:t>Timer + software interrupts / device interrupts</a:t>
            </a:r>
          </a:p>
        </p:txBody>
      </p:sp>
      <p:sp>
        <p:nvSpPr>
          <p:cNvPr id="28" name="TextBox 27"/>
          <p:cNvSpPr txBox="1"/>
          <p:nvPr/>
        </p:nvSpPr>
        <p:spPr>
          <a:xfrm>
            <a:off x="704088" y="5248656"/>
            <a:ext cx="10671048" cy="457200"/>
          </a:xfrm>
          <a:prstGeom prst="rect">
            <a:avLst/>
          </a:prstGeom>
          <a:noFill/>
        </p:spPr>
        <p:txBody>
          <a:bodyPr wrap="square" lIns="9144" rIns="9144" tIns="13716" bIns="13716" anchor="t">
            <a:spAutoFit/>
          </a:bodyPr>
          <a:lstStyle/>
          <a:p>
            <a:pPr algn="l">
              <a:lnSpc>
                <a:spcPct val="110000"/>
              </a:lnSpc>
              <a:spcBef>
                <a:spcPts val="0"/>
              </a:spcBef>
              <a:spcAft>
                <a:spcPts val="500"/>
              </a:spcAft>
              <a:defRPr sz="2300" b="1">
                <a:solidFill>
                  <a:srgbClr val="087F72"/>
                </a:solidFill>
                <a:latin typeface="DejaVu Sans"/>
              </a:defRPr>
            </a:pPr>
            <a:r>
              <a:t>Start reading: docs/dual-rocket/README.md</a:t>
            </a:r>
          </a:p>
        </p:txBody>
      </p:sp>
      <p:sp>
        <p:nvSpPr>
          <p:cNvPr id="29" name="Rectangle 28"/>
          <p:cNvSpPr/>
          <p:nvPr/>
        </p:nvSpPr>
        <p:spPr>
          <a:xfrm>
            <a:off x="502920" y="5696712"/>
            <a:ext cx="11183112" cy="502920"/>
          </a:xfrm>
          <a:prstGeom prst="rect">
            <a:avLst/>
          </a:prstGeom>
          <a:solidFill>
            <a:srgbClr val="E2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5788152"/>
            <a:ext cx="10789920" cy="310896"/>
          </a:xfrm>
          <a:prstGeom prst="rect">
            <a:avLst/>
          </a:prstGeom>
          <a:noFill/>
        </p:spPr>
        <p:txBody>
          <a:bodyPr wrap="square" lIns="9144" rIns="9144" tIns="13716" bIns="13716" anchor="t">
            <a:spAutoFit/>
          </a:bodyPr>
          <a:lstStyle/>
          <a:p>
            <a:pPr algn="l">
              <a:lnSpc>
                <a:spcPct val="110000"/>
              </a:lnSpc>
              <a:spcBef>
                <a:spcPts val="0"/>
              </a:spcBef>
              <a:spcAft>
                <a:spcPts val="500"/>
              </a:spcAft>
              <a:defRPr sz="1500" b="1">
                <a:solidFill>
                  <a:srgbClr val="087F72"/>
                </a:solidFill>
                <a:latin typeface="DejaVu Sans"/>
              </a:defRPr>
            </a:pPr>
            <a:r>
              <a:t>Bottom line: two Rocket cores, one complete SoC, reproducible evidence and clearly stated limits.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Dual-Rocket SoC: Configuration, Architecture and Verification</dc:title>
  <dc:subject>Chipyard DualRocketConfig; recorded September 6, 2026 evidence</dc:subject>
  <dc:creator>sainadh812 project | Prepared with Codex</dc:creator>
  <cp:keywords>Chipyard, Rocket, RISC-V, SoC, lint, synthesis, simulation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